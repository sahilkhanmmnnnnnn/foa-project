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9b3577860f4468" /><Relationship Type="http://schemas.openxmlformats.org/officeDocument/2006/relationships/extended-properties" Target="/docProps/app.xml" Id="Re792c1b02fab484f" /><Relationship Type="http://schemas.openxmlformats.org/officeDocument/2006/relationships/officeDocument" Target="/ppt/presentation.xml" Id="R0d9161f7bdf34886" /></Relationships>
</file>

<file path=ppt/presentation.xml><?xml version="1.0" encoding="utf-8"?>
<p:presentation xmlns:p="http://schemas.openxmlformats.org/presentationml/2006/main">
  <p:sldMasterIdLst>
    <p:sldMasterId xmlns:r="http://schemas.openxmlformats.org/officeDocument/2006/relationships" id="2147483648" r:id="Racb9a2b9cbba4ddf"/>
  </p:sldMasterIdLst>
  <p:notesMasterIdLst>
    <p:notesMasterId xmlns:r="http://schemas.openxmlformats.org/officeDocument/2006/relationships" r:id="Rd8c136c823b5481e"/>
  </p:notesMasterIdLst>
  <p:sldIdLst>
    <p:sldId xmlns:r="http://schemas.openxmlformats.org/officeDocument/2006/relationships" id="256" r:id="Rd50296a658bb447c"/>
    <p:sldId xmlns:r="http://schemas.openxmlformats.org/officeDocument/2006/relationships" id="257" r:id="R5aa69a7bd764498e"/>
    <p:sldId xmlns:r="http://schemas.openxmlformats.org/officeDocument/2006/relationships" id="258" r:id="Rec3d0e20ef144238"/>
    <p:sldId xmlns:r="http://schemas.openxmlformats.org/officeDocument/2006/relationships" id="259" r:id="Raf067425129e40f5"/>
    <p:sldId xmlns:r="http://schemas.openxmlformats.org/officeDocument/2006/relationships" id="260" r:id="R1c6ef80cd38d475c"/>
    <p:sldId xmlns:r="http://schemas.openxmlformats.org/officeDocument/2006/relationships" id="261" r:id="R6378379c72a24736"/>
    <p:sldId xmlns:r="http://schemas.openxmlformats.org/officeDocument/2006/relationships" id="262" r:id="Re6c53a06ca2b4f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f58337895d45a9" /><Relationship Type="http://schemas.openxmlformats.org/officeDocument/2006/relationships/slideMaster" Target="/ppt/slideMasters/slideMaster1.xml" Id="Racb9a2b9cbba4ddf" /><Relationship Type="http://schemas.openxmlformats.org/officeDocument/2006/relationships/notesMaster" Target="/ppt/notesMasters/notesMaster1.xml" Id="Rd8c136c823b5481e" /><Relationship Type="http://schemas.openxmlformats.org/officeDocument/2006/relationships/presProps" Target="/ppt/presProps.xml" Id="R87cff6c3d30d449a" /><Relationship Type="http://schemas.openxmlformats.org/officeDocument/2006/relationships/tableStyles" Target="/ppt/tableStyles.xml" Id="R802d32eca455472c" /><Relationship Type="http://schemas.openxmlformats.org/officeDocument/2006/relationships/slide" Target="/ppt/slides/slide1.xml" Id="Rd50296a658bb447c" /><Relationship Type="http://schemas.openxmlformats.org/officeDocument/2006/relationships/slide" Target="/ppt/slides/slide2.xml" Id="R5aa69a7bd764498e" /><Relationship Type="http://schemas.openxmlformats.org/officeDocument/2006/relationships/slide" Target="/ppt/slides/slide3.xml" Id="Rec3d0e20ef144238" /><Relationship Type="http://schemas.openxmlformats.org/officeDocument/2006/relationships/slide" Target="/ppt/slides/slide4.xml" Id="Raf067425129e40f5" /><Relationship Type="http://schemas.openxmlformats.org/officeDocument/2006/relationships/slide" Target="/ppt/slides/slide5.xml" Id="R1c6ef80cd38d475c" /><Relationship Type="http://schemas.openxmlformats.org/officeDocument/2006/relationships/slide" Target="/ppt/slides/slide6.xml" Id="R6378379c72a24736" /><Relationship Type="http://schemas.openxmlformats.org/officeDocument/2006/relationships/slide" Target="/ppt/slides/slide7.xml" Id="Re6c53a06ca2b4f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b37217de754d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a873c0610b4145" /><Relationship Type="http://schemas.openxmlformats.org/officeDocument/2006/relationships/notesMaster" Target="/ppt/notesMasters/notesMaster1.xml" Id="Ra69d13b5c7be4f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3109378eaa43c7" /><Relationship Type="http://schemas.openxmlformats.org/officeDocument/2006/relationships/notesMaster" Target="/ppt/notesMasters/notesMaster1.xml" Id="R8e9e14faddaa46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af465b7f6c49b2" /><Relationship Type="http://schemas.openxmlformats.org/officeDocument/2006/relationships/notesMaster" Target="/ppt/notesMasters/notesMaster1.xml" Id="Re13a32ccf27e4d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debd27ad844719" /><Relationship Type="http://schemas.openxmlformats.org/officeDocument/2006/relationships/notesMaster" Target="/ppt/notesMasters/notesMaster1.xml" Id="R3e25326ac55044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797646d56b418a" /><Relationship Type="http://schemas.openxmlformats.org/officeDocument/2006/relationships/notesMaster" Target="/ppt/notesMasters/notesMaster1.xml" Id="R9d82447f51b24e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a3906350094d56" /><Relationship Type="http://schemas.openxmlformats.org/officeDocument/2006/relationships/notesMaster" Target="/ppt/notesMasters/notesMaster1.xml" Id="R89d55a0bc1f249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b018976ebd4ab5" /><Relationship Type="http://schemas.openxmlformats.org/officeDocument/2006/relationships/notesMaster" Target="/ppt/notesMasters/notesMaster1.xml" Id="R7adbebf4aca9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Alex.d. Good morning. We are Alex.d and Manikanta Reddy from B.Tech, section Wolves. Our project is an AI-based campus navigation and route finder. It helps a student search for a place using everyday language and follow a verified campus route. This presentation describes a proposed prototype, not an already deployed product. Presenter roll numbers reproduce the user-provided identifiers, including the letter o in the second roll number. Image: AI-generated conceptual campus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Alex.d. A normal address search may identify a university, but our app uses the campus directory to locate specific rooms and entrances. The first prototype will cover a small verified part of the campus. It will support students, visitors and people who need step-free access. These benefits are intended outcomes and must be checked in user testing. Image: AI-generated illustrative student and fictional campus.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Alex.d. The journey starts by finding the current location with permission. GPS helps outdoors, while an indoor QR code identifies a surveyed checkpoint and its floor. The user enters a destination and the app confirms the correct place in the campus directory. The route service calculates a path and the app displays directions. Outdoor progress can update from location readings. Indoors, the proposed basic version updates at QR checkpoints and does not claim continuous room-level GPS tracking. If GPS is poor, the user can select a known start point. Handover: Manikanta will explain the AI and the implementation. Source: https://www.gps.gov/gps-accuracy explains signal blockage and indoor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Manikanta Reddy. AI is connected at the language-understanding layer. The app sends a typed request, or text obtained from speech recognition, to a pretrained language model through the backend. The model extracts destination and access preferences in structured fields. A lookup validates the destination against approved room records. If there are two computer labs, the app asks the user to select one. A* then searches a weighted graph. This prototype does not require training a large model from scratch. A* is a classical search algorithm and can work without machine learning. The system must never invent a route or room. Later, with enough consented and representative observations, a separate model could predict travel time. Source for routing: https://networkx.org/documentation/stable/_modules/networkx/algorithms/shortest_paths/astar.html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Manikanta Reddy. This is a simplified illustrative graph, not a measured campus map. The route through the library is 150 plus 200, or 350 metres. The route through the café is 200 plus 300, or 500 metres. For distance weights, A* can use straight-line distance as a lower-bound heuristic when coordinates and units are consistent. In A*, f(n) = g(n) + h(n), where g is the cost already travelled and h estimates the remaining cost. An overestimating heuristic can invalidate the shortest-path guarantee. A zero heuristic gives Dijkstra-style search. If a path closes, update the graph and run the search again. If no permitted route exists, display that result rather than inventing a path. Source: https://networkx.org/documentation/stable/reference/algorithms/generated/networkx.algorithms.shortest_paths.astar.astar_path.html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Manikanta Reddy. Stage one is a small campus survey with permission, followed by a database of approved destinations and connected path segments. Stage two is a Python backend with location lookup, language understanding and route calculation. Stage three is a Flutter application that requests location only when required and supports manual start selection or QR checkpoints. API credentials stay on the backend. Begin with outdoor navigation and one mapped building. Stage four compares routes against real walk-throughs. Record destination-match accuracy, successful arrivals, route correctness and response time. Test inaccessible routes, unknown rooms and loss of network. Campus staff need a way to update room details and closures. Implementation example: the app sends POST /route with a start node, a natural-language request and an access preference. The backend asks the AI service to extract destination and step_free, verifies the destination ID against the directory, removes closed or forbidden edges, and runs A*. It returns route node IDs, total distance and turn instructions. The app draws that route on the map. Store places as id, name, floor and coordinates, and paths as from_id, to_id, distance_m, stairs and closed. The suggested technology stack is a proposal, not a claim that the app has been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Presenters: Both. Thank you for listening. We welcome questions about the AI layer, campus mapping, route calculation and the prototype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710fe2d8f148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9e437e77464393" /><Relationship Type="http://schemas.openxmlformats.org/officeDocument/2006/relationships/slideLayout" Target="/ppt/slideLayouts/slideLayout1.xml" Id="R76aff6d5cce147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aff6d5cce147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2dadb7fafd419f" /><Relationship Type="http://schemas.openxmlformats.org/officeDocument/2006/relationships/image" Target="/ppt/media/image.png" Id="R4a56fda49a8741c0" /><Relationship Type="http://schemas.openxmlformats.org/officeDocument/2006/relationships/notesSlide" Target="/ppt/notesSlides/notesSlide1.xml" Id="R4a0dd222ef5d48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0d7c8f7e5c4fc1" /><Relationship Type="http://schemas.openxmlformats.org/officeDocument/2006/relationships/image" Target="/ppt/media/image2.png" Id="Rd089dc9f6bc44ff3" /><Relationship Type="http://schemas.openxmlformats.org/officeDocument/2006/relationships/notesSlide" Target="/ppt/notesSlides/notesSlide2.xml" Id="R2314a9b156af4f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cac38093454f5b" /><Relationship Type="http://schemas.openxmlformats.org/officeDocument/2006/relationships/notesSlide" Target="/ppt/notesSlides/notesSlide3.xml" Id="R10b2c53fff4f4a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f067431f5d4067" /><Relationship Type="http://schemas.openxmlformats.org/officeDocument/2006/relationships/notesSlide" Target="/ppt/notesSlides/notesSlide4.xml" Id="Rb87ffa0d40f947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75737a17974b6e" /><Relationship Type="http://schemas.openxmlformats.org/officeDocument/2006/relationships/notesSlide" Target="/ppt/notesSlides/notesSlide5.xml" Id="Re6529439acf243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151627af6244dc" /><Relationship Type="http://schemas.openxmlformats.org/officeDocument/2006/relationships/notesSlide" Target="/ppt/notesSlides/notesSlide6.xml" Id="R0c239e17956c43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611585d9bf4a09" /><Relationship Type="http://schemas.openxmlformats.org/officeDocument/2006/relationships/notesSlide" Target="/ppt/notesSlides/notesSlide7.xml" Id="Ra919f18f7d6941fe" /></Relationships>
</file>

<file path=ppt/slides/slide1.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a56fda49a8741c0"/>
          <a:srcRect xmlns:a="http://schemas.openxmlformats.org/drawingml/2006/main" l="20139" t="0" r="20139" b="0"/>
          <a:stretch xmlns:a="http://schemas.openxmlformats.org/drawingml/2006/main">
            <a:fillRect l="0" t="0" r="0" b="0"/>
          </a:stretch>
        </p:blipFill>
        <p:spPr>
          <a:xfrm xmlns:a="http://schemas.openxmlformats.org/drawingml/2006/main">
            <a:off x="6048375" y="0"/>
            <a:ext cx="61436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D9A250-C5E1-4698-AAD8-AEBD46FCF549}"/>
              </a:ext>
            </a:extLst>
          </p:cNvPr>
          <p:cNvSpPr>
            <a:spLocks xmlns:a="http://schemas.openxmlformats.org/drawingml/2006/main" noGrp="1"/>
          </p:cNvSpPr>
          <p:nvPr/>
        </p:nvSpPr>
        <p:spPr>
          <a:xfrm xmlns:a="http://schemas.openxmlformats.org/drawingml/2006/main">
            <a:off x="609600" y="5429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1D9CD"/>
                </a:solidFill>
                <a:latin typeface="Aptos"/>
                <a:ea typeface="Aptos"/>
                <a:cs typeface="Aptos"/>
              </a:defRPr>
            </a:pPr>
            <a:r>
              <a:rPr sz="2175" b="1">
                <a:solidFill>
                  <a:srgbClr val="41D9CD"/>
                </a:solidFill>
                <a:latin typeface="Aptos"/>
                <a:ea typeface="Aptos"/>
                <a:cs typeface="Aptos"/>
              </a:rPr>
              <a:t>AI-BASED</a:t>
            </a:r>
          </a:p>
        </p:txBody>
      </p:sp>
      <p:sp>
        <p:nvSpPr>
          <p:cNvPr id="3" name="">
            <a:extLst xmlns:a="http://schemas.openxmlformats.org/drawingml/2006/main">
              <a:ext uri="{FF2B5EF4-FFF2-40B4-BE49-F238E27FC236}">
                <a16:creationId xmlns:a16="http://schemas.microsoft.com/office/drawing/2014/main" id="{1BBB74FB-D96F-4C0F-9138-E9BF3F88D65C}"/>
              </a:ext>
            </a:extLst>
          </p:cNvPr>
          <p:cNvSpPr>
            <a:spLocks xmlns:a="http://schemas.openxmlformats.org/drawingml/2006/main" noGrp="1"/>
          </p:cNvSpPr>
          <p:nvPr/>
        </p:nvSpPr>
        <p:spPr>
          <a:xfrm xmlns:a="http://schemas.openxmlformats.org/drawingml/2006/main">
            <a:off x="609600" y="1123950"/>
            <a:ext cx="5381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F7FAFD"/>
                </a:solidFill>
                <a:latin typeface="Aptos"/>
                <a:ea typeface="Aptos"/>
                <a:cs typeface="Aptos"/>
              </a:defRPr>
            </a:pPr>
            <a:r>
              <a:rPr sz="4050" b="1">
                <a:solidFill>
                  <a:srgbClr val="F7FAFD"/>
                </a:solidFill>
                <a:latin typeface="Aptos"/>
                <a:ea typeface="Aptos"/>
                <a:cs typeface="Aptos"/>
              </a:rPr>
              <a:t>Campus Navigation</a:t>
            </a:r>
          </a:p>
          <a:p xmlns:a="http://schemas.openxmlformats.org/drawingml/2006/main">
            <a:pPr algn="l">
              <a:defRPr sz="4050" b="1">
                <a:solidFill>
                  <a:srgbClr val="F7FAFD"/>
                </a:solidFill>
                <a:latin typeface="Aptos"/>
                <a:ea typeface="Aptos"/>
                <a:cs typeface="Aptos"/>
              </a:defRPr>
            </a:pPr>
            <a:r>
              <a:rPr sz="4050" b="1">
                <a:solidFill>
                  <a:srgbClr val="F7FAFD"/>
                </a:solidFill>
                <a:latin typeface="Aptos"/>
                <a:ea typeface="Aptos"/>
                <a:cs typeface="Aptos"/>
              </a:rPr>
              <a:t>and Route Finder</a:t>
            </a:r>
          </a:p>
        </p:txBody>
      </p:sp>
      <p:sp>
        <p:nvSpPr>
          <p:cNvPr id="4" name="">
            <a:extLst xmlns:a="http://schemas.openxmlformats.org/drawingml/2006/main">
              <a:ext uri="{FF2B5EF4-FFF2-40B4-BE49-F238E27FC236}">
                <a16:creationId xmlns:a16="http://schemas.microsoft.com/office/drawing/2014/main" id="{6129C027-84AB-4F39-BBF6-D9169E8C0763}"/>
              </a:ext>
            </a:extLst>
          </p:cNvPr>
          <p:cNvSpPr>
            <a:spLocks xmlns:a="http://schemas.openxmlformats.org/drawingml/2006/main" noGrp="1"/>
          </p:cNvSpPr>
          <p:nvPr/>
        </p:nvSpPr>
        <p:spPr>
          <a:xfrm xmlns:a="http://schemas.openxmlformats.org/drawingml/2006/main">
            <a:off x="609600" y="310515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BDD0DC"/>
                </a:solidFill>
                <a:latin typeface="Aptos"/>
                <a:ea typeface="Aptos"/>
                <a:cs typeface="Aptos"/>
              </a:defRPr>
            </a:pPr>
            <a:r>
              <a:rPr sz="2100" b="0">
                <a:solidFill>
                  <a:srgbClr val="BDD0DC"/>
                </a:solidFill>
                <a:latin typeface="Aptos"/>
                <a:ea typeface="Aptos"/>
                <a:cs typeface="Aptos"/>
              </a:rPr>
              <a:t>A proposed smart guide for students and visitors</a:t>
            </a:r>
          </a:p>
        </p:txBody>
      </p:sp>
      <p:sp>
        <p:nvSpPr>
          <p:cNvPr id="5" name="">
            <a:extLst xmlns:a="http://schemas.openxmlformats.org/drawingml/2006/main">
              <a:ext uri="{FF2B5EF4-FFF2-40B4-BE49-F238E27FC236}">
                <a16:creationId xmlns:a16="http://schemas.microsoft.com/office/drawing/2014/main" id="{B2F6CA76-C4F3-40AE-B738-64DF685495A4}"/>
              </a:ext>
            </a:extLst>
          </p:cNvPr>
          <p:cNvSpPr>
            <a:spLocks xmlns:a="http://schemas.openxmlformats.org/drawingml/2006/main" noGrp="1"/>
          </p:cNvSpPr>
          <p:nvPr/>
        </p:nvSpPr>
        <p:spPr>
          <a:xfrm xmlns:a="http://schemas.openxmlformats.org/drawingml/2006/main">
            <a:off x="609600" y="42862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7FAFD"/>
                </a:solidFill>
                <a:latin typeface="Aptos"/>
                <a:ea typeface="Aptos"/>
                <a:cs typeface="Aptos"/>
              </a:defRPr>
            </a:pPr>
            <a:r>
              <a:rPr sz="2250" b="1">
                <a:solidFill>
                  <a:srgbClr val="F7FAFD"/>
                </a:solidFill>
                <a:latin typeface="Aptos"/>
                <a:ea typeface="Aptos"/>
                <a:cs typeface="Aptos"/>
              </a:rPr>
              <a:t>Alex.d</a:t>
            </a:r>
          </a:p>
        </p:txBody>
      </p:sp>
      <p:sp>
        <p:nvSpPr>
          <p:cNvPr id="6" name="">
            <a:extLst xmlns:a="http://schemas.openxmlformats.org/drawingml/2006/main">
              <a:ext uri="{FF2B5EF4-FFF2-40B4-BE49-F238E27FC236}">
                <a16:creationId xmlns:a16="http://schemas.microsoft.com/office/drawing/2014/main" id="{135D48D1-D4B1-4022-88A1-D0FBC7AC82E3}"/>
              </a:ext>
            </a:extLst>
          </p:cNvPr>
          <p:cNvSpPr>
            <a:spLocks xmlns:a="http://schemas.openxmlformats.org/drawingml/2006/main" noGrp="1"/>
          </p:cNvSpPr>
          <p:nvPr/>
        </p:nvSpPr>
        <p:spPr>
          <a:xfrm xmlns:a="http://schemas.openxmlformats.org/drawingml/2006/main">
            <a:off x="609600" y="4686300"/>
            <a:ext cx="4905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Roll No: 25wu0101029</a:t>
            </a:r>
          </a:p>
        </p:txBody>
      </p:sp>
      <p:sp>
        <p:nvSpPr>
          <p:cNvPr id="7" name="">
            <a:extLst xmlns:a="http://schemas.openxmlformats.org/drawingml/2006/main">
              <a:ext uri="{FF2B5EF4-FFF2-40B4-BE49-F238E27FC236}">
                <a16:creationId xmlns:a16="http://schemas.microsoft.com/office/drawing/2014/main" id="{C59AAABE-F13F-4573-B405-266CA9C95992}"/>
              </a:ext>
            </a:extLst>
          </p:cNvPr>
          <p:cNvSpPr>
            <a:spLocks xmlns:a="http://schemas.openxmlformats.org/drawingml/2006/main" noGrp="1"/>
          </p:cNvSpPr>
          <p:nvPr/>
        </p:nvSpPr>
        <p:spPr>
          <a:xfrm xmlns:a="http://schemas.openxmlformats.org/drawingml/2006/main">
            <a:off x="609600" y="52292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7FAFD"/>
                </a:solidFill>
                <a:latin typeface="Aptos"/>
                <a:ea typeface="Aptos"/>
                <a:cs typeface="Aptos"/>
              </a:defRPr>
            </a:pPr>
            <a:r>
              <a:rPr sz="2250" b="1">
                <a:solidFill>
                  <a:srgbClr val="F7FAFD"/>
                </a:solidFill>
                <a:latin typeface="Aptos"/>
                <a:ea typeface="Aptos"/>
                <a:cs typeface="Aptos"/>
              </a:rPr>
              <a:t>Manikanta Reddy</a:t>
            </a:r>
          </a:p>
        </p:txBody>
      </p:sp>
      <p:sp>
        <p:nvSpPr>
          <p:cNvPr id="8" name="">
            <a:extLst xmlns:a="http://schemas.openxmlformats.org/drawingml/2006/main">
              <a:ext uri="{FF2B5EF4-FFF2-40B4-BE49-F238E27FC236}">
                <a16:creationId xmlns:a16="http://schemas.microsoft.com/office/drawing/2014/main" id="{E11D6FD5-D997-4246-ADAE-5B9FDB65682B}"/>
              </a:ext>
            </a:extLst>
          </p:cNvPr>
          <p:cNvSpPr>
            <a:spLocks xmlns:a="http://schemas.openxmlformats.org/drawingml/2006/main" noGrp="1"/>
          </p:cNvSpPr>
          <p:nvPr/>
        </p:nvSpPr>
        <p:spPr>
          <a:xfrm xmlns:a="http://schemas.openxmlformats.org/drawingml/2006/main">
            <a:off x="609600" y="5629275"/>
            <a:ext cx="4905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Roll No: 25wuo102321</a:t>
            </a:r>
          </a:p>
        </p:txBody>
      </p:sp>
      <p:sp>
        <p:nvSpPr>
          <p:cNvPr id="9" name="">
            <a:extLst xmlns:a="http://schemas.openxmlformats.org/drawingml/2006/main">
              <a:ext uri="{FF2B5EF4-FFF2-40B4-BE49-F238E27FC236}">
                <a16:creationId xmlns:a16="http://schemas.microsoft.com/office/drawing/2014/main" id="{B3FDACFF-4E8C-49E4-84AD-AE75A500DD22}"/>
              </a:ext>
            </a:extLst>
          </p:cNvPr>
          <p:cNvSpPr>
            <a:spLocks xmlns:a="http://schemas.openxmlformats.org/drawingml/2006/main" noGrp="1"/>
          </p:cNvSpPr>
          <p:nvPr/>
        </p:nvSpPr>
        <p:spPr>
          <a:xfrm xmlns:a="http://schemas.openxmlformats.org/drawingml/2006/main">
            <a:off x="609600" y="6276975"/>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41D9CD"/>
                </a:solidFill>
                <a:latin typeface="Aptos"/>
                <a:ea typeface="Aptos"/>
                <a:cs typeface="Aptos"/>
              </a:defRPr>
            </a:pPr>
            <a:r>
              <a:rPr sz="1800" b="0">
                <a:solidFill>
                  <a:srgbClr val="41D9CD"/>
                </a:solidFill>
                <a:latin typeface="Aptos"/>
                <a:ea typeface="Aptos"/>
                <a:cs typeface="Aptos"/>
              </a:rPr>
              <a:t>Section: Wolves     Class: B.Tech</a:t>
            </a:r>
          </a:p>
        </p:txBody>
      </p:sp>
    </p:spTree>
    <p:extLst>
      <p:ext uri="{BB962C8B-B14F-4D97-AF65-F5344CB8AC3E}">
        <p14:creationId xmlns:p14="http://schemas.microsoft.com/office/powerpoint/2010/main" val="179703551"/>
      </p:ext>
    </p:extLst>
  </p:cSld>
</p:sld>
</file>

<file path=ppt/slides/slide2.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284DBD-FA2A-4147-9636-259B369D8CC1}"/>
              </a:ext>
            </a:extLst>
          </p:cNvPr>
          <p:cNvSpPr>
            <a:spLocks xmlns:a="http://schemas.openxmlformats.org/drawingml/2006/main" noGrp="1"/>
          </p:cNvSpPr>
          <p:nvPr/>
        </p:nvSpPr>
        <p:spPr>
          <a:xfrm xmlns:a="http://schemas.openxmlformats.org/drawingml/2006/main">
            <a:off x="609600" y="4572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7FAFD"/>
                </a:solidFill>
                <a:latin typeface="Aptos"/>
                <a:ea typeface="Aptos"/>
                <a:cs typeface="Aptos"/>
              </a:defRPr>
            </a:pPr>
            <a:r>
              <a:rPr sz="3300" b="1">
                <a:solidFill>
                  <a:srgbClr val="F7FAFD"/>
                </a:solidFill>
                <a:latin typeface="Aptos"/>
                <a:ea typeface="Aptos"/>
                <a:cs typeface="Aptos"/>
              </a:rPr>
              <a:t>The problem and our proposed solution</a:t>
            </a:r>
          </a:p>
        </p:txBody>
      </p:sp>
      <p:sp>
        <p:nvSpPr>
          <p:cNvPr id="2" name="">
            <a:extLst xmlns:a="http://schemas.openxmlformats.org/drawingml/2006/main">
              <a:ext uri="{FF2B5EF4-FFF2-40B4-BE49-F238E27FC236}">
                <a16:creationId xmlns:a16="http://schemas.microsoft.com/office/drawing/2014/main" id="{6433C298-5626-4A0E-9C01-E6485F1C9F4F}"/>
              </a:ext>
            </a:extLst>
          </p:cNvPr>
          <p:cNvSpPr>
            <a:spLocks xmlns:a="http://schemas.openxmlformats.org/drawingml/2006/main" noGrp="1"/>
          </p:cNvSpPr>
          <p:nvPr/>
        </p:nvSpPr>
        <p:spPr>
          <a:xfrm xmlns:a="http://schemas.openxmlformats.org/drawingml/2006/main">
            <a:off x="11163300" y="62484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DD0DC"/>
                </a:solidFill>
                <a:latin typeface="Aptos"/>
                <a:ea typeface="Aptos"/>
                <a:cs typeface="Aptos"/>
              </a:defRPr>
            </a:pPr>
            <a:r>
              <a:rPr sz="1350" b="0">
                <a:solidFill>
                  <a:srgbClr val="BDD0DC"/>
                </a:solidFill>
                <a:latin typeface="Aptos"/>
                <a:ea typeface="Aptos"/>
                <a:cs typeface="Aptos"/>
              </a:rPr>
              <a:t>02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089dc9f6bc44ff3"/>
          <a:srcRect xmlns:a="http://schemas.openxmlformats.org/drawingml/2006/main" l="0" t="4926" r="0" b="4926"/>
          <a:stretch xmlns:a="http://schemas.openxmlformats.org/drawingml/2006/main">
            <a:fillRect l="0" t="0" r="0" b="0"/>
          </a:stretch>
        </p:blipFill>
        <p:spPr>
          <a:xfrm xmlns:a="http://schemas.openxmlformats.org/drawingml/2006/main">
            <a:off x="609600" y="1428750"/>
            <a:ext cx="4143375"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52610D-F80B-4861-A8FC-D0C33CE71C31}"/>
              </a:ext>
            </a:extLst>
          </p:cNvPr>
          <p:cNvSpPr>
            <a:spLocks xmlns:a="http://schemas.openxmlformats.org/drawingml/2006/main" noGrp="1"/>
          </p:cNvSpPr>
          <p:nvPr/>
        </p:nvSpPr>
        <p:spPr>
          <a:xfrm xmlns:a="http://schemas.openxmlformats.org/drawingml/2006/main">
            <a:off x="5248275" y="1514475"/>
            <a:ext cx="617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1D9CD"/>
                </a:solidFill>
                <a:latin typeface="Aptos"/>
                <a:ea typeface="Aptos"/>
                <a:cs typeface="Aptos"/>
              </a:defRPr>
            </a:pPr>
            <a:r>
              <a:rPr sz="2175" b="1">
                <a:solidFill>
                  <a:srgbClr val="41D9CD"/>
                </a:solidFill>
                <a:latin typeface="Aptos"/>
                <a:ea typeface="Aptos"/>
                <a:cs typeface="Aptos"/>
              </a:rPr>
              <a:t>The problem</a:t>
            </a:r>
          </a:p>
        </p:txBody>
      </p:sp>
      <p:sp>
        <p:nvSpPr>
          <p:cNvPr id="5" name="">
            <a:extLst xmlns:a="http://schemas.openxmlformats.org/drawingml/2006/main">
              <a:ext uri="{FF2B5EF4-FFF2-40B4-BE49-F238E27FC236}">
                <a16:creationId xmlns:a16="http://schemas.microsoft.com/office/drawing/2014/main" id="{8C50041D-0FCD-4443-8621-1848440411E3}"/>
              </a:ext>
            </a:extLst>
          </p:cNvPr>
          <p:cNvSpPr>
            <a:spLocks xmlns:a="http://schemas.openxmlformats.org/drawingml/2006/main" noGrp="1"/>
          </p:cNvSpPr>
          <p:nvPr/>
        </p:nvSpPr>
        <p:spPr>
          <a:xfrm xmlns:a="http://schemas.openxmlformats.org/drawingml/2006/main">
            <a:off x="5248275" y="1962150"/>
            <a:ext cx="6172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New students and visitors struggle to find rooms, labs and the correct building entrance.</a:t>
            </a:r>
          </a:p>
        </p:txBody>
      </p:sp>
      <p:sp>
        <p:nvSpPr>
          <p:cNvPr id="6" name="">
            <a:extLst xmlns:a="http://schemas.openxmlformats.org/drawingml/2006/main">
              <a:ext uri="{FF2B5EF4-FFF2-40B4-BE49-F238E27FC236}">
                <a16:creationId xmlns:a16="http://schemas.microsoft.com/office/drawing/2014/main" id="{BD0B3B0B-CD39-49E0-A2C3-76E2D17A86D0}"/>
              </a:ext>
            </a:extLst>
          </p:cNvPr>
          <p:cNvSpPr>
            <a:spLocks xmlns:a="http://schemas.openxmlformats.org/drawingml/2006/main" noGrp="1"/>
          </p:cNvSpPr>
          <p:nvPr/>
        </p:nvSpPr>
        <p:spPr>
          <a:xfrm xmlns:a="http://schemas.openxmlformats.org/drawingml/2006/main">
            <a:off x="5248275" y="3076575"/>
            <a:ext cx="617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1D9CD"/>
                </a:solidFill>
                <a:latin typeface="Aptos"/>
                <a:ea typeface="Aptos"/>
                <a:cs typeface="Aptos"/>
              </a:defRPr>
            </a:pPr>
            <a:r>
              <a:rPr sz="2175" b="1">
                <a:solidFill>
                  <a:srgbClr val="41D9CD"/>
                </a:solidFill>
                <a:latin typeface="Aptos"/>
                <a:ea typeface="Aptos"/>
                <a:cs typeface="Aptos"/>
              </a:rPr>
              <a:t>The product</a:t>
            </a:r>
          </a:p>
        </p:txBody>
      </p:sp>
      <p:sp>
        <p:nvSpPr>
          <p:cNvPr id="7" name="">
            <a:extLst xmlns:a="http://schemas.openxmlformats.org/drawingml/2006/main">
              <a:ext uri="{FF2B5EF4-FFF2-40B4-BE49-F238E27FC236}">
                <a16:creationId xmlns:a16="http://schemas.microsoft.com/office/drawing/2014/main" id="{8D742BC1-7671-4F44-9C0E-CD90178F8F4D}"/>
              </a:ext>
            </a:extLst>
          </p:cNvPr>
          <p:cNvSpPr>
            <a:spLocks xmlns:a="http://schemas.openxmlformats.org/drawingml/2006/main" noGrp="1"/>
          </p:cNvSpPr>
          <p:nvPr/>
        </p:nvSpPr>
        <p:spPr>
          <a:xfrm xmlns:a="http://schemas.openxmlformats.org/drawingml/2006/main">
            <a:off x="5248275" y="3524250"/>
            <a:ext cx="6172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A mobile app with a campus map, searchable destinations and step-by-step directions.</a:t>
            </a:r>
          </a:p>
        </p:txBody>
      </p:sp>
      <p:sp>
        <p:nvSpPr>
          <p:cNvPr id="8" name="">
            <a:extLst xmlns:a="http://schemas.openxmlformats.org/drawingml/2006/main">
              <a:ext uri="{FF2B5EF4-FFF2-40B4-BE49-F238E27FC236}">
                <a16:creationId xmlns:a16="http://schemas.microsoft.com/office/drawing/2014/main" id="{01A32EE7-1BDB-48E9-9831-881873A3F99C}"/>
              </a:ext>
            </a:extLst>
          </p:cNvPr>
          <p:cNvSpPr>
            <a:spLocks xmlns:a="http://schemas.openxmlformats.org/drawingml/2006/main" noGrp="1"/>
          </p:cNvSpPr>
          <p:nvPr/>
        </p:nvSpPr>
        <p:spPr>
          <a:xfrm xmlns:a="http://schemas.openxmlformats.org/drawingml/2006/main">
            <a:off x="5248275" y="4638675"/>
            <a:ext cx="617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1D9CD"/>
                </a:solidFill>
                <a:latin typeface="Aptos"/>
                <a:ea typeface="Aptos"/>
                <a:cs typeface="Aptos"/>
              </a:defRPr>
            </a:pPr>
            <a:r>
              <a:rPr sz="2175" b="1">
                <a:solidFill>
                  <a:srgbClr val="41D9CD"/>
                </a:solidFill>
                <a:latin typeface="Aptos"/>
                <a:ea typeface="Aptos"/>
                <a:cs typeface="Aptos"/>
              </a:rPr>
              <a:t>The benefit</a:t>
            </a:r>
          </a:p>
        </p:txBody>
      </p:sp>
      <p:sp>
        <p:nvSpPr>
          <p:cNvPr id="9" name="">
            <a:extLst xmlns:a="http://schemas.openxmlformats.org/drawingml/2006/main">
              <a:ext uri="{FF2B5EF4-FFF2-40B4-BE49-F238E27FC236}">
                <a16:creationId xmlns:a16="http://schemas.microsoft.com/office/drawing/2014/main" id="{4E390F4A-632F-4595-B5A5-6C0706AAAE92}"/>
              </a:ext>
            </a:extLst>
          </p:cNvPr>
          <p:cNvSpPr>
            <a:spLocks xmlns:a="http://schemas.openxmlformats.org/drawingml/2006/main" noGrp="1"/>
          </p:cNvSpPr>
          <p:nvPr/>
        </p:nvSpPr>
        <p:spPr>
          <a:xfrm xmlns:a="http://schemas.openxmlformats.org/drawingml/2006/main">
            <a:off x="5248275" y="5086350"/>
            <a:ext cx="6172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Students can choose a direct or step-free route and see the distance and estimated arrival time.</a:t>
            </a:r>
          </a:p>
        </p:txBody>
      </p:sp>
    </p:spTree>
    <p:extLst>
      <p:ext uri="{BB962C8B-B14F-4D97-AF65-F5344CB8AC3E}">
        <p14:creationId xmlns:p14="http://schemas.microsoft.com/office/powerpoint/2010/main" val="1384441834"/>
      </p:ext>
    </p:extLst>
  </p:cSld>
</p:sld>
</file>

<file path=ppt/slides/slide3.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758B041-A954-4F8C-B6F8-FE17976AF642}"/>
              </a:ext>
            </a:extLst>
          </p:cNvPr>
          <p:cNvSpPr>
            <a:spLocks xmlns:a="http://schemas.openxmlformats.org/drawingml/2006/main" noGrp="1"/>
          </p:cNvSpPr>
          <p:nvPr/>
        </p:nvSpPr>
        <p:spPr>
          <a:xfrm xmlns:a="http://schemas.openxmlformats.org/drawingml/2006/main">
            <a:off x="609600" y="4572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7FAFD"/>
                </a:solidFill>
                <a:latin typeface="Aptos"/>
                <a:ea typeface="Aptos"/>
                <a:cs typeface="Aptos"/>
              </a:defRPr>
            </a:pPr>
            <a:r>
              <a:rPr sz="3300" b="1">
                <a:solidFill>
                  <a:srgbClr val="F7FAFD"/>
                </a:solidFill>
                <a:latin typeface="Aptos"/>
                <a:ea typeface="Aptos"/>
                <a:cs typeface="Aptos"/>
              </a:rPr>
              <a:t>How the app works</a:t>
            </a:r>
          </a:p>
        </p:txBody>
      </p:sp>
      <p:sp>
        <p:nvSpPr>
          <p:cNvPr id="2" name="">
            <a:extLst xmlns:a="http://schemas.openxmlformats.org/drawingml/2006/main">
              <a:ext uri="{FF2B5EF4-FFF2-40B4-BE49-F238E27FC236}">
                <a16:creationId xmlns:a16="http://schemas.microsoft.com/office/drawing/2014/main" id="{1FA913CA-A689-4C8F-983C-A884EA1403D0}"/>
              </a:ext>
            </a:extLst>
          </p:cNvPr>
          <p:cNvSpPr>
            <a:spLocks xmlns:a="http://schemas.openxmlformats.org/drawingml/2006/main" noGrp="1"/>
          </p:cNvSpPr>
          <p:nvPr/>
        </p:nvSpPr>
        <p:spPr>
          <a:xfrm xmlns:a="http://schemas.openxmlformats.org/drawingml/2006/main">
            <a:off x="11163300" y="62484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DD0DC"/>
                </a:solidFill>
                <a:latin typeface="Aptos"/>
                <a:ea typeface="Aptos"/>
                <a:cs typeface="Aptos"/>
              </a:defRPr>
            </a:pPr>
            <a:r>
              <a:rPr sz="1350" b="0">
                <a:solidFill>
                  <a:srgbClr val="BDD0DC"/>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4707A505-2893-4921-AC29-AA72270C2ECC}"/>
              </a:ext>
            </a:extLst>
          </p:cNvPr>
          <p:cNvSpPr>
            <a:spLocks xmlns:a="http://schemas.openxmlformats.org/drawingml/2006/main" noGrp="1"/>
          </p:cNvSpPr>
          <p:nvPr/>
        </p:nvSpPr>
        <p:spPr>
          <a:xfrm xmlns:a="http://schemas.openxmlformats.org/drawingml/2006/main">
            <a:off x="609600" y="1905000"/>
            <a:ext cx="2286000" cy="876300"/>
          </a:xfrm>
          <a:prstGeom xmlns:a="http://schemas.openxmlformats.org/drawingml/2006/main" prst="roundRect">
            <a:avLst>
              <a:gd name="adj" fmla="val 13043"/>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1  Locate</a:t>
            </a:r>
          </a:p>
        </p:txBody>
      </p:sp>
      <p:sp>
        <p:nvSpPr>
          <p:cNvPr id="4" name="">
            <a:extLst xmlns:a="http://schemas.openxmlformats.org/drawingml/2006/main">
              <a:ext uri="{FF2B5EF4-FFF2-40B4-BE49-F238E27FC236}">
                <a16:creationId xmlns:a16="http://schemas.microsoft.com/office/drawing/2014/main" id="{5DB31FC4-697A-43B3-B602-8709359E7528}"/>
              </a:ext>
            </a:extLst>
          </p:cNvPr>
          <p:cNvSpPr>
            <a:spLocks xmlns:a="http://schemas.openxmlformats.org/drawingml/2006/main" noGrp="1"/>
          </p:cNvSpPr>
          <p:nvPr/>
        </p:nvSpPr>
        <p:spPr>
          <a:xfrm xmlns:a="http://schemas.openxmlformats.org/drawingml/2006/main">
            <a:off x="609600" y="31432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Use GPS outdoors.</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Scan a location QR</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code indoors.</a:t>
            </a:r>
          </a:p>
        </p:txBody>
      </p:sp>
      <p:sp>
        <p:nvSpPr>
          <p:cNvPr id="5" name="">
            <a:extLst xmlns:a="http://schemas.openxmlformats.org/drawingml/2006/main">
              <a:ext uri="{FF2B5EF4-FFF2-40B4-BE49-F238E27FC236}">
                <a16:creationId xmlns:a16="http://schemas.microsoft.com/office/drawing/2014/main" id="{58A9FC37-0834-4387-B545-AA73104ACDF9}"/>
              </a:ext>
            </a:extLst>
          </p:cNvPr>
          <p:cNvSpPr>
            <a:spLocks xmlns:a="http://schemas.openxmlformats.org/drawingml/2006/main" noGrp="1"/>
          </p:cNvSpPr>
          <p:nvPr/>
        </p:nvSpPr>
        <p:spPr>
          <a:xfrm xmlns:a="http://schemas.openxmlformats.org/drawingml/2006/main">
            <a:off x="3505200" y="1905000"/>
            <a:ext cx="2286000" cy="876300"/>
          </a:xfrm>
          <a:prstGeom xmlns:a="http://schemas.openxmlformats.org/drawingml/2006/main" prst="roundRect">
            <a:avLst>
              <a:gd name="adj" fmla="val 13043"/>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2  Search</a:t>
            </a:r>
          </a:p>
        </p:txBody>
      </p:sp>
      <p:sp>
        <p:nvSpPr>
          <p:cNvPr id="6" name="">
            <a:extLst xmlns:a="http://schemas.openxmlformats.org/drawingml/2006/main">
              <a:ext uri="{FF2B5EF4-FFF2-40B4-BE49-F238E27FC236}">
                <a16:creationId xmlns:a16="http://schemas.microsoft.com/office/drawing/2014/main" id="{444F57BE-51B4-473B-8E7E-F1D21A7D3034}"/>
              </a:ext>
            </a:extLst>
          </p:cNvPr>
          <p:cNvSpPr>
            <a:spLocks xmlns:a="http://schemas.openxmlformats.org/drawingml/2006/main" noGrp="1"/>
          </p:cNvSpPr>
          <p:nvPr/>
        </p:nvSpPr>
        <p:spPr>
          <a:xfrm xmlns:a="http://schemas.openxmlformats.org/drawingml/2006/main">
            <a:off x="3505200" y="31432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Type or speak:</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“Take me to</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CSE Lab 2.”</a:t>
            </a:r>
          </a:p>
        </p:txBody>
      </p:sp>
      <p:cxnSp>
        <p:nvCxnSpPr>
          <p:cNvPr id="23" name=""/>
          <p:cNvCxnSpPr>
            <a:stCxn xmlns:a="http://schemas.openxmlformats.org/drawingml/2006/main" id="3" idx="3"/>
            <a:endCxn xmlns:a="http://schemas.openxmlformats.org/drawingml/2006/main" id="5" idx="1"/>
          </p:cNvCxnSpPr>
          <p:nvPr/>
        </p:nvCxnSpPr>
        <p:spPr>
          <a:xfrm xmlns:a="http://schemas.openxmlformats.org/drawingml/2006/main">
            <a:off x="2895600" y="2343150"/>
            <a:ext cx="609600" cy="0"/>
          </a:xfrm>
          <a:prstGeom xmlns:a="http://schemas.openxmlformats.org/drawingml/2006/main" prst="straightConnector1">
            <a:avLst/>
          </a:prstGeom>
          <a:ln xmlns:a="http://schemas.openxmlformats.org/drawingml/2006/main" w="28575">
            <a:solidFill>
              <a:srgbClr val="41D9CD"/>
            </a:solidFill>
            <a:tailEnd type="triangle" w="med" len="med"/>
          </a:ln>
        </p:spPr>
      </p:cxnSp>
      <p:sp>
        <p:nvSpPr>
          <p:cNvPr id="8" name="">
            <a:extLst xmlns:a="http://schemas.openxmlformats.org/drawingml/2006/main">
              <a:ext uri="{FF2B5EF4-FFF2-40B4-BE49-F238E27FC236}">
                <a16:creationId xmlns:a16="http://schemas.microsoft.com/office/drawing/2014/main" id="{65748DA4-7897-4066-956E-FC29F6D6A47F}"/>
              </a:ext>
            </a:extLst>
          </p:cNvPr>
          <p:cNvSpPr>
            <a:spLocks xmlns:a="http://schemas.openxmlformats.org/drawingml/2006/main" noGrp="1"/>
          </p:cNvSpPr>
          <p:nvPr/>
        </p:nvSpPr>
        <p:spPr>
          <a:xfrm xmlns:a="http://schemas.openxmlformats.org/drawingml/2006/main">
            <a:off x="6400800" y="1905000"/>
            <a:ext cx="2286000" cy="876300"/>
          </a:xfrm>
          <a:prstGeom xmlns:a="http://schemas.openxmlformats.org/drawingml/2006/main" prst="roundRect">
            <a:avLst>
              <a:gd name="adj" fmla="val 13043"/>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3  Find a route</a:t>
            </a:r>
          </a:p>
        </p:txBody>
      </p:sp>
      <p:sp>
        <p:nvSpPr>
          <p:cNvPr id="9" name="">
            <a:extLst xmlns:a="http://schemas.openxmlformats.org/drawingml/2006/main">
              <a:ext uri="{FF2B5EF4-FFF2-40B4-BE49-F238E27FC236}">
                <a16:creationId xmlns:a16="http://schemas.microsoft.com/office/drawing/2014/main" id="{0321B99C-D984-4A05-9B09-22FB1C4BB6D4}"/>
              </a:ext>
            </a:extLst>
          </p:cNvPr>
          <p:cNvSpPr>
            <a:spLocks xmlns:a="http://schemas.openxmlformats.org/drawingml/2006/main" noGrp="1"/>
          </p:cNvSpPr>
          <p:nvPr/>
        </p:nvSpPr>
        <p:spPr>
          <a:xfrm xmlns:a="http://schemas.openxmlformats.org/drawingml/2006/main">
            <a:off x="6400800" y="31432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Match the destination.</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Apply access rules.</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Calculate the path.</a:t>
            </a:r>
          </a:p>
        </p:txBody>
      </p:sp>
      <p:cxnSp>
        <p:nvCxnSpPr>
          <p:cNvPr id="26" name=""/>
          <p:cNvCxnSpPr>
            <a:stCxn xmlns:a="http://schemas.openxmlformats.org/drawingml/2006/main" id="5" idx="3"/>
            <a:endCxn xmlns:a="http://schemas.openxmlformats.org/drawingml/2006/main" id="8" idx="1"/>
          </p:cNvCxnSpPr>
          <p:nvPr/>
        </p:nvCxnSpPr>
        <p:spPr>
          <a:xfrm xmlns:a="http://schemas.openxmlformats.org/drawingml/2006/main">
            <a:off x="5791200" y="2343150"/>
            <a:ext cx="609600" cy="0"/>
          </a:xfrm>
          <a:prstGeom xmlns:a="http://schemas.openxmlformats.org/drawingml/2006/main" prst="straightConnector1">
            <a:avLst/>
          </a:prstGeom>
          <a:ln xmlns:a="http://schemas.openxmlformats.org/drawingml/2006/main" w="28575">
            <a:solidFill>
              <a:srgbClr val="41D9CD"/>
            </a:solidFill>
            <a:tailEnd type="triangle" w="med" len="med"/>
          </a:ln>
        </p:spPr>
      </p:cxnSp>
      <p:sp>
        <p:nvSpPr>
          <p:cNvPr id="11" name="">
            <a:extLst xmlns:a="http://schemas.openxmlformats.org/drawingml/2006/main">
              <a:ext uri="{FF2B5EF4-FFF2-40B4-BE49-F238E27FC236}">
                <a16:creationId xmlns:a16="http://schemas.microsoft.com/office/drawing/2014/main" id="{F3C3CAE5-FE32-465F-9DE6-3766B6A18A41}"/>
              </a:ext>
            </a:extLst>
          </p:cNvPr>
          <p:cNvSpPr>
            <a:spLocks xmlns:a="http://schemas.openxmlformats.org/drawingml/2006/main" noGrp="1"/>
          </p:cNvSpPr>
          <p:nvPr/>
        </p:nvSpPr>
        <p:spPr>
          <a:xfrm xmlns:a="http://schemas.openxmlformats.org/drawingml/2006/main">
            <a:off x="9296400" y="1905000"/>
            <a:ext cx="2286000" cy="876300"/>
          </a:xfrm>
          <a:prstGeom xmlns:a="http://schemas.openxmlformats.org/drawingml/2006/main" prst="roundRect">
            <a:avLst>
              <a:gd name="adj" fmla="val 13043"/>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4  Navigate</a:t>
            </a:r>
          </a:p>
        </p:txBody>
      </p:sp>
      <p:sp>
        <p:nvSpPr>
          <p:cNvPr id="12" name="">
            <a:extLst xmlns:a="http://schemas.openxmlformats.org/drawingml/2006/main">
              <a:ext uri="{FF2B5EF4-FFF2-40B4-BE49-F238E27FC236}">
                <a16:creationId xmlns:a16="http://schemas.microsoft.com/office/drawing/2014/main" id="{6099A69D-AE9E-4586-9AF2-202291986C8A}"/>
              </a:ext>
            </a:extLst>
          </p:cNvPr>
          <p:cNvSpPr>
            <a:spLocks xmlns:a="http://schemas.openxmlformats.org/drawingml/2006/main" noGrp="1"/>
          </p:cNvSpPr>
          <p:nvPr/>
        </p:nvSpPr>
        <p:spPr>
          <a:xfrm xmlns:a="http://schemas.openxmlformats.org/drawingml/2006/main">
            <a:off x="9296400" y="3143250"/>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Follow map and</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turn instructions.</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Recalculate if needed.</a:t>
            </a:r>
          </a:p>
        </p:txBody>
      </p:sp>
      <p:cxnSp>
        <p:nvCxnSpPr>
          <p:cNvPr id="29" name=""/>
          <p:cNvCxnSpPr>
            <a:stCxn xmlns:a="http://schemas.openxmlformats.org/drawingml/2006/main" id="8" idx="3"/>
            <a:endCxn xmlns:a="http://schemas.openxmlformats.org/drawingml/2006/main" id="11" idx="1"/>
          </p:cNvCxnSpPr>
          <p:nvPr/>
        </p:nvCxnSpPr>
        <p:spPr>
          <a:xfrm xmlns:a="http://schemas.openxmlformats.org/drawingml/2006/main">
            <a:off x="8686800" y="2343150"/>
            <a:ext cx="609600" cy="0"/>
          </a:xfrm>
          <a:prstGeom xmlns:a="http://schemas.openxmlformats.org/drawingml/2006/main" prst="straightConnector1">
            <a:avLst/>
          </a:prstGeom>
          <a:ln xmlns:a="http://schemas.openxmlformats.org/drawingml/2006/main" w="28575">
            <a:solidFill>
              <a:srgbClr val="41D9CD"/>
            </a:solidFill>
            <a:tailEnd type="triangle" w="med" len="med"/>
          </a:ln>
        </p:spPr>
      </p:cxnSp>
      <p:sp>
        <p:nvSpPr>
          <p:cNvPr id="14" name="">
            <a:extLst xmlns:a="http://schemas.openxmlformats.org/drawingml/2006/main">
              <a:ext uri="{FF2B5EF4-FFF2-40B4-BE49-F238E27FC236}">
                <a16:creationId xmlns:a16="http://schemas.microsoft.com/office/drawing/2014/main" id="{1EAE014F-0C12-4F9C-97E0-85285F6C58C2}"/>
              </a:ext>
            </a:extLst>
          </p:cNvPr>
          <p:cNvSpPr>
            <a:spLocks xmlns:a="http://schemas.openxmlformats.org/drawingml/2006/main" noGrp="1"/>
          </p:cNvSpPr>
          <p:nvPr/>
        </p:nvSpPr>
        <p:spPr>
          <a:xfrm xmlns:a="http://schemas.openxmlformats.org/drawingml/2006/main">
            <a:off x="609600" y="47625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41D9CD"/>
                </a:solidFill>
                <a:latin typeface="Aptos"/>
                <a:ea typeface="Aptos"/>
                <a:cs typeface="Aptos"/>
              </a:defRPr>
            </a:pPr>
            <a:r>
              <a:rPr sz="2250" b="1">
                <a:solidFill>
                  <a:srgbClr val="41D9CD"/>
                </a:solidFill>
                <a:latin typeface="Aptos"/>
                <a:ea typeface="Aptos"/>
                <a:cs typeface="Aptos"/>
              </a:rPr>
              <a:t>Example journey</a:t>
            </a:r>
          </a:p>
        </p:txBody>
      </p:sp>
      <p:sp>
        <p:nvSpPr>
          <p:cNvPr id="15" name="">
            <a:extLst xmlns:a="http://schemas.openxmlformats.org/drawingml/2006/main">
              <a:ext uri="{FF2B5EF4-FFF2-40B4-BE49-F238E27FC236}">
                <a16:creationId xmlns:a16="http://schemas.microsoft.com/office/drawing/2014/main" id="{C5489E52-0307-4402-82A7-1CC5AFC639CD}"/>
              </a:ext>
            </a:extLst>
          </p:cNvPr>
          <p:cNvSpPr>
            <a:spLocks xmlns:a="http://schemas.openxmlformats.org/drawingml/2006/main" noGrp="1"/>
          </p:cNvSpPr>
          <p:nvPr/>
        </p:nvSpPr>
        <p:spPr>
          <a:xfrm xmlns:a="http://schemas.openxmlformats.org/drawingml/2006/main">
            <a:off x="609600" y="52673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F7FAFD"/>
                </a:solidFill>
                <a:latin typeface="Aptos"/>
                <a:ea typeface="Aptos"/>
                <a:cs typeface="Aptos"/>
              </a:defRPr>
            </a:pPr>
            <a:r>
              <a:rPr sz="2100" b="1">
                <a:solidFill>
                  <a:srgbClr val="F7FAFD"/>
                </a:solidFill>
                <a:latin typeface="Aptos"/>
                <a:ea typeface="Aptos"/>
                <a:cs typeface="Aptos"/>
              </a:rPr>
              <a:t>Main gate  →  Academic Block A entrance  →  Floor 1  →  CSE Lab 2</a:t>
            </a:r>
          </a:p>
        </p:txBody>
      </p:sp>
      <p:sp>
        <p:nvSpPr>
          <p:cNvPr id="16" name="">
            <a:extLst xmlns:a="http://schemas.openxmlformats.org/drawingml/2006/main">
              <a:ext uri="{FF2B5EF4-FFF2-40B4-BE49-F238E27FC236}">
                <a16:creationId xmlns:a16="http://schemas.microsoft.com/office/drawing/2014/main" id="{4F7A08BD-1D61-4601-B2DA-EA6A46AE8033}"/>
              </a:ext>
            </a:extLst>
          </p:cNvPr>
          <p:cNvSpPr>
            <a:spLocks xmlns:a="http://schemas.openxmlformats.org/drawingml/2006/main" noGrp="1"/>
          </p:cNvSpPr>
          <p:nvPr/>
        </p:nvSpPr>
        <p:spPr>
          <a:xfrm xmlns:a="http://schemas.openxmlformats.org/drawingml/2006/main">
            <a:off x="609600" y="5867400"/>
            <a:ext cx="10429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BDD0DC"/>
                </a:solidFill>
                <a:latin typeface="Aptos"/>
                <a:ea typeface="Aptos"/>
                <a:cs typeface="Aptos"/>
              </a:defRPr>
            </a:pPr>
            <a:r>
              <a:rPr sz="1725" b="0">
                <a:solidFill>
                  <a:srgbClr val="BDD0DC"/>
                </a:solidFill>
                <a:latin typeface="Aptos"/>
                <a:ea typeface="Aptos"/>
                <a:cs typeface="Aptos"/>
              </a:rPr>
              <a:t>Indoor prototype: floor maps and QR checkpoints identify known positions.</a:t>
            </a:r>
          </a:p>
        </p:txBody>
      </p:sp>
    </p:spTree>
    <p:extLst>
      <p:ext uri="{BB962C8B-B14F-4D97-AF65-F5344CB8AC3E}">
        <p14:creationId xmlns:p14="http://schemas.microsoft.com/office/powerpoint/2010/main" val="1807004006"/>
      </p:ext>
    </p:extLst>
  </p:cSld>
</p:sld>
</file>

<file path=ppt/slides/slide4.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8A7C3CE-BC3D-4832-BC4F-28B586BB6347}"/>
              </a:ext>
            </a:extLst>
          </p:cNvPr>
          <p:cNvSpPr>
            <a:spLocks xmlns:a="http://schemas.openxmlformats.org/drawingml/2006/main" noGrp="1"/>
          </p:cNvSpPr>
          <p:nvPr/>
        </p:nvSpPr>
        <p:spPr>
          <a:xfrm xmlns:a="http://schemas.openxmlformats.org/drawingml/2006/main">
            <a:off x="609600" y="4572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7FAFD"/>
                </a:solidFill>
                <a:latin typeface="Aptos"/>
                <a:ea typeface="Aptos"/>
                <a:cs typeface="Aptos"/>
              </a:defRPr>
            </a:pPr>
            <a:r>
              <a:rPr sz="3300" b="1">
                <a:solidFill>
                  <a:srgbClr val="F7FAFD"/>
                </a:solidFill>
                <a:latin typeface="Aptos"/>
                <a:ea typeface="Aptos"/>
                <a:cs typeface="Aptos"/>
              </a:rPr>
              <a:t>How AI connects to the product</a:t>
            </a:r>
          </a:p>
        </p:txBody>
      </p:sp>
      <p:sp>
        <p:nvSpPr>
          <p:cNvPr id="2" name="">
            <a:extLst xmlns:a="http://schemas.openxmlformats.org/drawingml/2006/main">
              <a:ext uri="{FF2B5EF4-FFF2-40B4-BE49-F238E27FC236}">
                <a16:creationId xmlns:a16="http://schemas.microsoft.com/office/drawing/2014/main" id="{3853F51E-6129-4F9E-A651-E556BECA976B}"/>
              </a:ext>
            </a:extLst>
          </p:cNvPr>
          <p:cNvSpPr>
            <a:spLocks xmlns:a="http://schemas.openxmlformats.org/drawingml/2006/main" noGrp="1"/>
          </p:cNvSpPr>
          <p:nvPr/>
        </p:nvSpPr>
        <p:spPr>
          <a:xfrm xmlns:a="http://schemas.openxmlformats.org/drawingml/2006/main">
            <a:off x="11163300" y="62484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DD0DC"/>
                </a:solidFill>
                <a:latin typeface="Aptos"/>
                <a:ea typeface="Aptos"/>
                <a:cs typeface="Aptos"/>
              </a:defRPr>
            </a:pPr>
            <a:r>
              <a:rPr sz="1350" b="0">
                <a:solidFill>
                  <a:srgbClr val="BDD0DC"/>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17C1C5D0-405E-4A2A-B4E4-D43BDD772D3F}"/>
              </a:ext>
            </a:extLst>
          </p:cNvPr>
          <p:cNvSpPr>
            <a:spLocks xmlns:a="http://schemas.openxmlformats.org/drawingml/2006/main" noGrp="1"/>
          </p:cNvSpPr>
          <p:nvPr/>
        </p:nvSpPr>
        <p:spPr>
          <a:xfrm xmlns:a="http://schemas.openxmlformats.org/drawingml/2006/main">
            <a:off x="609600" y="14287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F3BE6B"/>
                </a:solidFill>
                <a:latin typeface="Aptos"/>
                <a:ea typeface="Aptos"/>
                <a:cs typeface="Aptos"/>
              </a:defRPr>
            </a:pPr>
            <a:r>
              <a:rPr sz="2550" b="1">
                <a:solidFill>
                  <a:srgbClr val="F3BE6B"/>
                </a:solidFill>
                <a:latin typeface="Aptos"/>
                <a:ea typeface="Aptos"/>
                <a:cs typeface="Aptos"/>
              </a:rPr>
              <a:t>“Take me to the computer lab without stairs”</a:t>
            </a:r>
          </a:p>
        </p:txBody>
      </p:sp>
      <p:sp>
        <p:nvSpPr>
          <p:cNvPr id="4" name="">
            <a:extLst xmlns:a="http://schemas.openxmlformats.org/drawingml/2006/main">
              <a:ext uri="{FF2B5EF4-FFF2-40B4-BE49-F238E27FC236}">
                <a16:creationId xmlns:a16="http://schemas.microsoft.com/office/drawing/2014/main" id="{4272D10A-6A95-4A04-8944-FF2CB833AB18}"/>
              </a:ext>
            </a:extLst>
          </p:cNvPr>
          <p:cNvSpPr>
            <a:spLocks xmlns:a="http://schemas.openxmlformats.org/drawingml/2006/main" noGrp="1"/>
          </p:cNvSpPr>
          <p:nvPr/>
        </p:nvSpPr>
        <p:spPr>
          <a:xfrm xmlns:a="http://schemas.openxmlformats.org/drawingml/2006/main">
            <a:off x="609600" y="2476500"/>
            <a:ext cx="2857500" cy="952500"/>
          </a:xfrm>
          <a:prstGeom xmlns:a="http://schemas.openxmlformats.org/drawingml/2006/main" prst="roundRect">
            <a:avLst>
              <a:gd name="adj" fmla="val 12000"/>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AI language model</a:t>
            </a:r>
          </a:p>
        </p:txBody>
      </p:sp>
      <p:sp>
        <p:nvSpPr>
          <p:cNvPr id="5" name="">
            <a:extLst xmlns:a="http://schemas.openxmlformats.org/drawingml/2006/main">
              <a:ext uri="{FF2B5EF4-FFF2-40B4-BE49-F238E27FC236}">
                <a16:creationId xmlns:a16="http://schemas.microsoft.com/office/drawing/2014/main" id="{7AF3B057-602B-4957-936D-A103AEDC1800}"/>
              </a:ext>
            </a:extLst>
          </p:cNvPr>
          <p:cNvSpPr>
            <a:spLocks xmlns:a="http://schemas.openxmlformats.org/drawingml/2006/main" noGrp="1"/>
          </p:cNvSpPr>
          <p:nvPr/>
        </p:nvSpPr>
        <p:spPr>
          <a:xfrm xmlns:a="http://schemas.openxmlformats.org/drawingml/2006/main">
            <a:off x="4619625" y="2476500"/>
            <a:ext cx="2857500" cy="952500"/>
          </a:xfrm>
          <a:prstGeom xmlns:a="http://schemas.openxmlformats.org/drawingml/2006/main" prst="roundRect">
            <a:avLst>
              <a:gd name="adj" fmla="val 12000"/>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Campus directory</a:t>
            </a:r>
          </a:p>
        </p:txBody>
      </p:sp>
      <p:sp>
        <p:nvSpPr>
          <p:cNvPr id="6" name="">
            <a:extLst xmlns:a="http://schemas.openxmlformats.org/drawingml/2006/main">
              <a:ext uri="{FF2B5EF4-FFF2-40B4-BE49-F238E27FC236}">
                <a16:creationId xmlns:a16="http://schemas.microsoft.com/office/drawing/2014/main" id="{7B98642E-6CB9-4E53-89F0-C37CBEDF5C7C}"/>
              </a:ext>
            </a:extLst>
          </p:cNvPr>
          <p:cNvSpPr>
            <a:spLocks xmlns:a="http://schemas.openxmlformats.org/drawingml/2006/main" noGrp="1"/>
          </p:cNvSpPr>
          <p:nvPr/>
        </p:nvSpPr>
        <p:spPr>
          <a:xfrm xmlns:a="http://schemas.openxmlformats.org/drawingml/2006/main">
            <a:off x="8639175" y="2476500"/>
            <a:ext cx="2857500" cy="952500"/>
          </a:xfrm>
          <a:prstGeom xmlns:a="http://schemas.openxmlformats.org/drawingml/2006/main" prst="roundRect">
            <a:avLst>
              <a:gd name="adj" fmla="val 12000"/>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Route engine</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3467100" y="2952750"/>
            <a:ext cx="1152525" cy="0"/>
          </a:xfrm>
          <a:prstGeom xmlns:a="http://schemas.openxmlformats.org/drawingml/2006/main" prst="straightConnector1">
            <a:avLst/>
          </a:prstGeom>
          <a:ln xmlns:a="http://schemas.openxmlformats.org/drawingml/2006/main" w="28575">
            <a:solidFill>
              <a:srgbClr val="41D9CD"/>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477125" y="2952750"/>
            <a:ext cx="1162050" cy="0"/>
          </a:xfrm>
          <a:prstGeom xmlns:a="http://schemas.openxmlformats.org/drawingml/2006/main" prst="straightConnector1">
            <a:avLst/>
          </a:prstGeom>
          <a:ln xmlns:a="http://schemas.openxmlformats.org/drawingml/2006/main" w="28575">
            <a:solidFill>
              <a:srgbClr val="41D9CD"/>
            </a:solidFill>
            <a:tailEnd type="triangle" w="med" len="med"/>
          </a:ln>
        </p:spPr>
      </p:cxnSp>
      <p:sp>
        <p:nvSpPr>
          <p:cNvPr id="9" name="">
            <a:extLst xmlns:a="http://schemas.openxmlformats.org/drawingml/2006/main">
              <a:ext uri="{FF2B5EF4-FFF2-40B4-BE49-F238E27FC236}">
                <a16:creationId xmlns:a16="http://schemas.microsoft.com/office/drawing/2014/main" id="{3E786A9F-5634-4985-A6B9-C71DE69E097C}"/>
              </a:ext>
            </a:extLst>
          </p:cNvPr>
          <p:cNvSpPr>
            <a:spLocks xmlns:a="http://schemas.openxmlformats.org/drawingml/2006/main" noGrp="1"/>
          </p:cNvSpPr>
          <p:nvPr/>
        </p:nvSpPr>
        <p:spPr>
          <a:xfrm xmlns:a="http://schemas.openxmlformats.org/drawingml/2006/main">
            <a:off x="609600" y="3714750"/>
            <a:ext cx="304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Extracts the place name</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and the step-free request.</a:t>
            </a:r>
          </a:p>
        </p:txBody>
      </p:sp>
      <p:sp>
        <p:nvSpPr>
          <p:cNvPr id="10" name="">
            <a:extLst xmlns:a="http://schemas.openxmlformats.org/drawingml/2006/main">
              <a:ext uri="{FF2B5EF4-FFF2-40B4-BE49-F238E27FC236}">
                <a16:creationId xmlns:a16="http://schemas.microsoft.com/office/drawing/2014/main" id="{BD3456D1-080F-4D01-AABF-169FE575FD96}"/>
              </a:ext>
            </a:extLst>
          </p:cNvPr>
          <p:cNvSpPr>
            <a:spLocks xmlns:a="http://schemas.openxmlformats.org/drawingml/2006/main" noGrp="1"/>
          </p:cNvSpPr>
          <p:nvPr/>
        </p:nvSpPr>
        <p:spPr>
          <a:xfrm xmlns:a="http://schemas.openxmlformats.org/drawingml/2006/main">
            <a:off x="4619625" y="3714750"/>
            <a:ext cx="304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Returns a verified room ID.</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Asks which lab if unclear.</a:t>
            </a:r>
          </a:p>
        </p:txBody>
      </p:sp>
      <p:sp>
        <p:nvSpPr>
          <p:cNvPr id="11" name="">
            <a:extLst xmlns:a="http://schemas.openxmlformats.org/drawingml/2006/main">
              <a:ext uri="{FF2B5EF4-FFF2-40B4-BE49-F238E27FC236}">
                <a16:creationId xmlns:a16="http://schemas.microsoft.com/office/drawing/2014/main" id="{9055155E-A313-492F-8900-FB173E6F8C2D}"/>
              </a:ext>
            </a:extLst>
          </p:cNvPr>
          <p:cNvSpPr>
            <a:spLocks xmlns:a="http://schemas.openxmlformats.org/drawingml/2006/main" noGrp="1"/>
          </p:cNvSpPr>
          <p:nvPr/>
        </p:nvSpPr>
        <p:spPr>
          <a:xfrm xmlns:a="http://schemas.openxmlformats.org/drawingml/2006/main">
            <a:off x="8639175" y="3714750"/>
            <a:ext cx="3000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Uses A* on mapped paths</a:t>
            </a:r>
          </a:p>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and excludes stair edges.</a:t>
            </a:r>
          </a:p>
        </p:txBody>
      </p:sp>
      <p:sp>
        <p:nvSpPr>
          <p:cNvPr id="12" name="">
            <a:extLst xmlns:a="http://schemas.openxmlformats.org/drawingml/2006/main">
              <a:ext uri="{FF2B5EF4-FFF2-40B4-BE49-F238E27FC236}">
                <a16:creationId xmlns:a16="http://schemas.microsoft.com/office/drawing/2014/main" id="{BA8C6E32-805A-4C3D-BB75-E8E4176805CC}"/>
              </a:ext>
            </a:extLst>
          </p:cNvPr>
          <p:cNvSpPr>
            <a:spLocks xmlns:a="http://schemas.openxmlformats.org/drawingml/2006/main" noGrp="1"/>
          </p:cNvSpPr>
          <p:nvPr/>
        </p:nvSpPr>
        <p:spPr>
          <a:xfrm xmlns:a="http://schemas.openxmlformats.org/drawingml/2006/main">
            <a:off x="609600" y="5143500"/>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F7FAFD"/>
                </a:solidFill>
                <a:latin typeface="Aptos"/>
                <a:ea typeface="Aptos"/>
                <a:cs typeface="Aptos"/>
              </a:defRPr>
            </a:pPr>
            <a:r>
              <a:rPr sz="2400" b="1">
                <a:solidFill>
                  <a:srgbClr val="F7FAFD"/>
                </a:solidFill>
                <a:latin typeface="Aptos"/>
                <a:ea typeface="Aptos"/>
                <a:cs typeface="Aptos"/>
              </a:rPr>
              <a:t>AI understands the request. The graph algorithm calculates the route.</a:t>
            </a:r>
          </a:p>
        </p:txBody>
      </p:sp>
      <p:sp>
        <p:nvSpPr>
          <p:cNvPr id="13" name="">
            <a:extLst xmlns:a="http://schemas.openxmlformats.org/drawingml/2006/main">
              <a:ext uri="{FF2B5EF4-FFF2-40B4-BE49-F238E27FC236}">
                <a16:creationId xmlns:a16="http://schemas.microsoft.com/office/drawing/2014/main" id="{44A5ACF2-4A26-4450-9165-01EEE8012A71}"/>
              </a:ext>
            </a:extLst>
          </p:cNvPr>
          <p:cNvSpPr>
            <a:spLocks xmlns:a="http://schemas.openxmlformats.org/drawingml/2006/main" noGrp="1"/>
          </p:cNvSpPr>
          <p:nvPr/>
        </p:nvSpPr>
        <p:spPr>
          <a:xfrm xmlns:a="http://schemas.openxmlformats.org/drawingml/2006/main">
            <a:off x="609600" y="61341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BDD0DC"/>
                </a:solidFill>
                <a:latin typeface="Aptos"/>
                <a:ea typeface="Aptos"/>
                <a:cs typeface="Aptos"/>
              </a:defRPr>
            </a:pPr>
            <a:r>
              <a:rPr sz="1650" b="0">
                <a:solidFill>
                  <a:srgbClr val="BDD0DC"/>
                </a:solidFill>
                <a:latin typeface="Aptos"/>
                <a:ea typeface="Aptos"/>
                <a:cs typeface="Aptos"/>
              </a:rPr>
              <a:t>Optional later feature: a trained model can estimate busy-path travel times.</a:t>
            </a:r>
          </a:p>
        </p:txBody>
      </p:sp>
    </p:spTree>
    <p:extLst>
      <p:ext uri="{BB962C8B-B14F-4D97-AF65-F5344CB8AC3E}">
        <p14:creationId xmlns:p14="http://schemas.microsoft.com/office/powerpoint/2010/main" val="1470685660"/>
      </p:ext>
    </p:extLst>
  </p:cSld>
</p:sld>
</file>

<file path=ppt/slides/slide5.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00292A5-1E16-4613-8571-D0D143D472B9}"/>
              </a:ext>
            </a:extLst>
          </p:cNvPr>
          <p:cNvSpPr>
            <a:spLocks xmlns:a="http://schemas.openxmlformats.org/drawingml/2006/main" noGrp="1"/>
          </p:cNvSpPr>
          <p:nvPr/>
        </p:nvSpPr>
        <p:spPr>
          <a:xfrm xmlns:a="http://schemas.openxmlformats.org/drawingml/2006/main">
            <a:off x="609600" y="4572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7FAFD"/>
                </a:solidFill>
                <a:latin typeface="Aptos"/>
                <a:ea typeface="Aptos"/>
                <a:cs typeface="Aptos"/>
              </a:defRPr>
            </a:pPr>
            <a:r>
              <a:rPr sz="3300" b="1">
                <a:solidFill>
                  <a:srgbClr val="F7FAFD"/>
                </a:solidFill>
                <a:latin typeface="Aptos"/>
                <a:ea typeface="Aptos"/>
                <a:cs typeface="Aptos"/>
              </a:rPr>
              <a:t>How the route finder chooses a path</a:t>
            </a:r>
          </a:p>
        </p:txBody>
      </p:sp>
      <p:sp>
        <p:nvSpPr>
          <p:cNvPr id="2" name="">
            <a:extLst xmlns:a="http://schemas.openxmlformats.org/drawingml/2006/main">
              <a:ext uri="{FF2B5EF4-FFF2-40B4-BE49-F238E27FC236}">
                <a16:creationId xmlns:a16="http://schemas.microsoft.com/office/drawing/2014/main" id="{D8378D8B-EDFE-4405-AD2F-FAC0193A3F30}"/>
              </a:ext>
            </a:extLst>
          </p:cNvPr>
          <p:cNvSpPr>
            <a:spLocks xmlns:a="http://schemas.openxmlformats.org/drawingml/2006/main" noGrp="1"/>
          </p:cNvSpPr>
          <p:nvPr/>
        </p:nvSpPr>
        <p:spPr>
          <a:xfrm xmlns:a="http://schemas.openxmlformats.org/drawingml/2006/main">
            <a:off x="11163300" y="62484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DD0DC"/>
                </a:solidFill>
                <a:latin typeface="Aptos"/>
                <a:ea typeface="Aptos"/>
                <a:cs typeface="Aptos"/>
              </a:defRPr>
            </a:pPr>
            <a:r>
              <a:rPr sz="1350" b="0">
                <a:solidFill>
                  <a:srgbClr val="BDD0DC"/>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60F62104-462A-4AE6-9E68-94387C0E2FA8}"/>
              </a:ext>
            </a:extLst>
          </p:cNvPr>
          <p:cNvSpPr>
            <a:spLocks xmlns:a="http://schemas.openxmlformats.org/drawingml/2006/main" noGrp="1"/>
          </p:cNvSpPr>
          <p:nvPr/>
        </p:nvSpPr>
        <p:spPr>
          <a:xfrm xmlns:a="http://schemas.openxmlformats.org/drawingml/2006/main">
            <a:off x="609600" y="13716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Illustrative campus graph</a:t>
            </a:r>
          </a:p>
        </p:txBody>
      </p:sp>
      <p:sp>
        <p:nvSpPr>
          <p:cNvPr id="4" name="">
            <a:extLst xmlns:a="http://schemas.openxmlformats.org/drawingml/2006/main">
              <a:ext uri="{FF2B5EF4-FFF2-40B4-BE49-F238E27FC236}">
                <a16:creationId xmlns:a16="http://schemas.microsoft.com/office/drawing/2014/main" id="{3FBC5837-83BA-4947-8C92-A834F690EA0A}"/>
              </a:ext>
            </a:extLst>
          </p:cNvPr>
          <p:cNvSpPr>
            <a:spLocks xmlns:a="http://schemas.openxmlformats.org/drawingml/2006/main" noGrp="1"/>
          </p:cNvSpPr>
          <p:nvPr/>
        </p:nvSpPr>
        <p:spPr>
          <a:xfrm xmlns:a="http://schemas.openxmlformats.org/drawingml/2006/main">
            <a:off x="685800" y="3095625"/>
            <a:ext cx="1428750" cy="723900"/>
          </a:xfrm>
          <a:prstGeom xmlns:a="http://schemas.openxmlformats.org/drawingml/2006/main" prst="roundRect">
            <a:avLst>
              <a:gd name="adj" fmla="val 15789"/>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Gate</a:t>
            </a:r>
          </a:p>
        </p:txBody>
      </p:sp>
      <p:sp>
        <p:nvSpPr>
          <p:cNvPr id="5" name="">
            <a:extLst xmlns:a="http://schemas.openxmlformats.org/drawingml/2006/main">
              <a:ext uri="{FF2B5EF4-FFF2-40B4-BE49-F238E27FC236}">
                <a16:creationId xmlns:a16="http://schemas.microsoft.com/office/drawing/2014/main" id="{E9C28EFF-8AF7-4E17-BCD8-5404A983EAC8}"/>
              </a:ext>
            </a:extLst>
          </p:cNvPr>
          <p:cNvSpPr>
            <a:spLocks xmlns:a="http://schemas.openxmlformats.org/drawingml/2006/main" noGrp="1"/>
          </p:cNvSpPr>
          <p:nvPr/>
        </p:nvSpPr>
        <p:spPr>
          <a:xfrm xmlns:a="http://schemas.openxmlformats.org/drawingml/2006/main">
            <a:off x="2905125" y="2085975"/>
            <a:ext cx="1809750" cy="723900"/>
          </a:xfrm>
          <a:prstGeom xmlns:a="http://schemas.openxmlformats.org/drawingml/2006/main" prst="roundRect">
            <a:avLst>
              <a:gd name="adj" fmla="val 15789"/>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Library</a:t>
            </a:r>
          </a:p>
        </p:txBody>
      </p:sp>
      <p:sp>
        <p:nvSpPr>
          <p:cNvPr id="6" name="">
            <a:extLst xmlns:a="http://schemas.openxmlformats.org/drawingml/2006/main">
              <a:ext uri="{FF2B5EF4-FFF2-40B4-BE49-F238E27FC236}">
                <a16:creationId xmlns:a16="http://schemas.microsoft.com/office/drawing/2014/main" id="{222DB888-3AEE-4F7A-ABAD-921D6036AE7E}"/>
              </a:ext>
            </a:extLst>
          </p:cNvPr>
          <p:cNvSpPr>
            <a:spLocks xmlns:a="http://schemas.openxmlformats.org/drawingml/2006/main" noGrp="1"/>
          </p:cNvSpPr>
          <p:nvPr/>
        </p:nvSpPr>
        <p:spPr>
          <a:xfrm xmlns:a="http://schemas.openxmlformats.org/drawingml/2006/main">
            <a:off x="2905125" y="4229100"/>
            <a:ext cx="1809750" cy="723900"/>
          </a:xfrm>
          <a:prstGeom xmlns:a="http://schemas.openxmlformats.org/drawingml/2006/main" prst="roundRect">
            <a:avLst>
              <a:gd name="adj" fmla="val 15789"/>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Café</a:t>
            </a:r>
          </a:p>
        </p:txBody>
      </p:sp>
      <p:sp>
        <p:nvSpPr>
          <p:cNvPr id="7" name="">
            <a:extLst xmlns:a="http://schemas.openxmlformats.org/drawingml/2006/main">
              <a:ext uri="{FF2B5EF4-FFF2-40B4-BE49-F238E27FC236}">
                <a16:creationId xmlns:a16="http://schemas.microsoft.com/office/drawing/2014/main" id="{2C3B91D3-0143-419D-BF45-CBB393A02715}"/>
              </a:ext>
            </a:extLst>
          </p:cNvPr>
          <p:cNvSpPr>
            <a:spLocks xmlns:a="http://schemas.openxmlformats.org/drawingml/2006/main" noGrp="1"/>
          </p:cNvSpPr>
          <p:nvPr/>
        </p:nvSpPr>
        <p:spPr>
          <a:xfrm xmlns:a="http://schemas.openxmlformats.org/drawingml/2006/main">
            <a:off x="5572125" y="3095625"/>
            <a:ext cx="1619250" cy="723900"/>
          </a:xfrm>
          <a:prstGeom xmlns:a="http://schemas.openxmlformats.org/drawingml/2006/main" prst="roundRect">
            <a:avLst>
              <a:gd name="adj" fmla="val 15789"/>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Block A</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flipV="1">
            <a:off x="2114550" y="2447925"/>
            <a:ext cx="790575" cy="1009650"/>
          </a:xfrm>
          <a:prstGeom xmlns:a="http://schemas.openxmlformats.org/drawingml/2006/main" prst="straightConnector1">
            <a:avLst/>
          </a:prstGeom>
          <a:ln xmlns:a="http://schemas.openxmlformats.org/drawingml/2006/main" w="28575">
            <a:solidFill>
              <a:srgbClr val="41D9CD"/>
            </a:solidFill>
            <a:tailEnd type="none" w="med" len="med"/>
          </a:ln>
        </p:spPr>
      </p:cxnSp>
      <p:cxnSp>
        <p:nvCxnSpPr>
          <p:cNvPr id="32" name=""/>
          <p:cNvCxnSpPr>
            <a:stCxn xmlns:a="http://schemas.openxmlformats.org/drawingml/2006/main" id="5" idx="3"/>
            <a:endCxn xmlns:a="http://schemas.openxmlformats.org/drawingml/2006/main" id="7" idx="1"/>
          </p:cNvCxnSpPr>
          <p:nvPr/>
        </p:nvCxnSpPr>
        <p:spPr>
          <a:xfrm xmlns:a="http://schemas.openxmlformats.org/drawingml/2006/main">
            <a:off x="4714875" y="2447925"/>
            <a:ext cx="857250" cy="1009650"/>
          </a:xfrm>
          <a:prstGeom xmlns:a="http://schemas.openxmlformats.org/drawingml/2006/main" prst="straightConnector1">
            <a:avLst/>
          </a:prstGeom>
          <a:ln xmlns:a="http://schemas.openxmlformats.org/drawingml/2006/main" w="28575">
            <a:solidFill>
              <a:srgbClr val="41D9CD"/>
            </a:solidFill>
            <a:tailEnd type="none" w="med" len="med"/>
          </a:ln>
        </p:spPr>
      </p:cxnSp>
      <p:cxnSp>
        <p:nvCxnSpPr>
          <p:cNvPr id="33" name=""/>
          <p:cNvCxnSpPr>
            <a:stCxn xmlns:a="http://schemas.openxmlformats.org/drawingml/2006/main" id="4" idx="3"/>
            <a:endCxn xmlns:a="http://schemas.openxmlformats.org/drawingml/2006/main" id="6" idx="1"/>
          </p:cNvCxnSpPr>
          <p:nvPr/>
        </p:nvCxnSpPr>
        <p:spPr>
          <a:xfrm xmlns:a="http://schemas.openxmlformats.org/drawingml/2006/main">
            <a:off x="2114550" y="3457575"/>
            <a:ext cx="790575" cy="1133475"/>
          </a:xfrm>
          <a:prstGeom xmlns:a="http://schemas.openxmlformats.org/drawingml/2006/main" prst="straightConnector1">
            <a:avLst/>
          </a:prstGeom>
          <a:ln xmlns:a="http://schemas.openxmlformats.org/drawingml/2006/main" w="28575">
            <a:solidFill>
              <a:srgbClr val="557384"/>
            </a:solidFill>
            <a:tailEnd type="none" w="med" len="med"/>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flipV="1">
            <a:off x="4714875" y="3457575"/>
            <a:ext cx="857250" cy="1133475"/>
          </a:xfrm>
          <a:prstGeom xmlns:a="http://schemas.openxmlformats.org/drawingml/2006/main" prst="straightConnector1">
            <a:avLst/>
          </a:prstGeom>
          <a:ln xmlns:a="http://schemas.openxmlformats.org/drawingml/2006/main" w="28575">
            <a:solidFill>
              <a:srgbClr val="557384"/>
            </a:solidFill>
            <a:tailEnd type="none" w="med" len="med"/>
          </a:ln>
        </p:spPr>
      </p:cxnSp>
      <p:sp>
        <p:nvSpPr>
          <p:cNvPr id="12" name="">
            <a:extLst xmlns:a="http://schemas.openxmlformats.org/drawingml/2006/main">
              <a:ext uri="{FF2B5EF4-FFF2-40B4-BE49-F238E27FC236}">
                <a16:creationId xmlns:a16="http://schemas.microsoft.com/office/drawing/2014/main" id="{E584A1F9-5D82-4E4D-9DD8-8B692244C3A8}"/>
              </a:ext>
            </a:extLst>
          </p:cNvPr>
          <p:cNvSpPr>
            <a:spLocks xmlns:a="http://schemas.openxmlformats.org/drawingml/2006/main" noGrp="1"/>
          </p:cNvSpPr>
          <p:nvPr/>
        </p:nvSpPr>
        <p:spPr>
          <a:xfrm xmlns:a="http://schemas.openxmlformats.org/drawingml/2006/main">
            <a:off x="1905000" y="22669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1D9CD"/>
                </a:solidFill>
                <a:latin typeface="Aptos"/>
                <a:ea typeface="Aptos"/>
                <a:cs typeface="Aptos"/>
              </a:defRPr>
            </a:pPr>
            <a:r>
              <a:rPr sz="1800" b="1">
                <a:solidFill>
                  <a:srgbClr val="41D9CD"/>
                </a:solidFill>
                <a:latin typeface="Aptos"/>
                <a:ea typeface="Aptos"/>
                <a:cs typeface="Aptos"/>
              </a:rPr>
              <a:t>150 m</a:t>
            </a:r>
          </a:p>
        </p:txBody>
      </p:sp>
      <p:sp>
        <p:nvSpPr>
          <p:cNvPr id="13" name="">
            <a:extLst xmlns:a="http://schemas.openxmlformats.org/drawingml/2006/main">
              <a:ext uri="{FF2B5EF4-FFF2-40B4-BE49-F238E27FC236}">
                <a16:creationId xmlns:a16="http://schemas.microsoft.com/office/drawing/2014/main" id="{F4636D84-0DF4-497C-A30F-D858AEE4F741}"/>
              </a:ext>
            </a:extLst>
          </p:cNvPr>
          <p:cNvSpPr>
            <a:spLocks xmlns:a="http://schemas.openxmlformats.org/drawingml/2006/main" noGrp="1"/>
          </p:cNvSpPr>
          <p:nvPr/>
        </p:nvSpPr>
        <p:spPr>
          <a:xfrm xmlns:a="http://schemas.openxmlformats.org/drawingml/2006/main">
            <a:off x="4714875" y="2257425"/>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1D9CD"/>
                </a:solidFill>
                <a:latin typeface="Aptos"/>
                <a:ea typeface="Aptos"/>
                <a:cs typeface="Aptos"/>
              </a:defRPr>
            </a:pPr>
            <a:r>
              <a:rPr sz="1800" b="1">
                <a:solidFill>
                  <a:srgbClr val="41D9CD"/>
                </a:solidFill>
                <a:latin typeface="Aptos"/>
                <a:ea typeface="Aptos"/>
                <a:cs typeface="Aptos"/>
              </a:rPr>
              <a:t>200 m</a:t>
            </a:r>
          </a:p>
        </p:txBody>
      </p:sp>
      <p:sp>
        <p:nvSpPr>
          <p:cNvPr id="14" name="">
            <a:extLst xmlns:a="http://schemas.openxmlformats.org/drawingml/2006/main">
              <a:ext uri="{FF2B5EF4-FFF2-40B4-BE49-F238E27FC236}">
                <a16:creationId xmlns:a16="http://schemas.microsoft.com/office/drawing/2014/main" id="{67D7667B-C687-4CB0-B906-54E0700D9BBE}"/>
              </a:ext>
            </a:extLst>
          </p:cNvPr>
          <p:cNvSpPr>
            <a:spLocks xmlns:a="http://schemas.openxmlformats.org/drawingml/2006/main" noGrp="1"/>
          </p:cNvSpPr>
          <p:nvPr/>
        </p:nvSpPr>
        <p:spPr>
          <a:xfrm xmlns:a="http://schemas.openxmlformats.org/drawingml/2006/main">
            <a:off x="1828800" y="4257675"/>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200 m</a:t>
            </a:r>
          </a:p>
        </p:txBody>
      </p:sp>
      <p:sp>
        <p:nvSpPr>
          <p:cNvPr id="15" name="">
            <a:extLst xmlns:a="http://schemas.openxmlformats.org/drawingml/2006/main">
              <a:ext uri="{FF2B5EF4-FFF2-40B4-BE49-F238E27FC236}">
                <a16:creationId xmlns:a16="http://schemas.microsoft.com/office/drawing/2014/main" id="{2FD5C38C-7C3C-431B-9C79-60E61F95A703}"/>
              </a:ext>
            </a:extLst>
          </p:cNvPr>
          <p:cNvSpPr>
            <a:spLocks xmlns:a="http://schemas.openxmlformats.org/drawingml/2006/main" noGrp="1"/>
          </p:cNvSpPr>
          <p:nvPr/>
        </p:nvSpPr>
        <p:spPr>
          <a:xfrm xmlns:a="http://schemas.openxmlformats.org/drawingml/2006/main">
            <a:off x="4772025" y="4257675"/>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300 m</a:t>
            </a:r>
          </a:p>
        </p:txBody>
      </p:sp>
      <p:sp>
        <p:nvSpPr>
          <p:cNvPr id="16" name="">
            <a:extLst xmlns:a="http://schemas.openxmlformats.org/drawingml/2006/main">
              <a:ext uri="{FF2B5EF4-FFF2-40B4-BE49-F238E27FC236}">
                <a16:creationId xmlns:a16="http://schemas.microsoft.com/office/drawing/2014/main" id="{7064C5C2-CA12-40A9-BCEA-C2ED1BDA5BD0}"/>
              </a:ext>
            </a:extLst>
          </p:cNvPr>
          <p:cNvSpPr>
            <a:spLocks xmlns:a="http://schemas.openxmlformats.org/drawingml/2006/main" noGrp="1"/>
          </p:cNvSpPr>
          <p:nvPr/>
        </p:nvSpPr>
        <p:spPr>
          <a:xfrm xmlns:a="http://schemas.openxmlformats.org/drawingml/2006/main">
            <a:off x="838200" y="5429250"/>
            <a:ext cx="6334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41D9CD"/>
                </a:solidFill>
                <a:latin typeface="Aptos"/>
                <a:ea typeface="Aptos"/>
                <a:cs typeface="Aptos"/>
              </a:defRPr>
            </a:pPr>
            <a:r>
              <a:rPr sz="2400" b="1">
                <a:solidFill>
                  <a:srgbClr val="41D9CD"/>
                </a:solidFill>
                <a:latin typeface="Aptos"/>
                <a:ea typeface="Aptos"/>
                <a:cs typeface="Aptos"/>
              </a:rPr>
              <a:t>Selected route: 350 m</a:t>
            </a:r>
          </a:p>
        </p:txBody>
      </p:sp>
      <p:sp>
        <p:nvSpPr>
          <p:cNvPr id="17" name="">
            <a:extLst xmlns:a="http://schemas.openxmlformats.org/drawingml/2006/main">
              <a:ext uri="{FF2B5EF4-FFF2-40B4-BE49-F238E27FC236}">
                <a16:creationId xmlns:a16="http://schemas.microsoft.com/office/drawing/2014/main" id="{6608E5F1-4887-4F15-96F8-9CE41D8A0E5C}"/>
              </a:ext>
            </a:extLst>
          </p:cNvPr>
          <p:cNvSpPr>
            <a:spLocks xmlns:a="http://schemas.openxmlformats.org/drawingml/2006/main" noGrp="1"/>
          </p:cNvSpPr>
          <p:nvPr/>
        </p:nvSpPr>
        <p:spPr>
          <a:xfrm xmlns:a="http://schemas.openxmlformats.org/drawingml/2006/main">
            <a:off x="838200" y="5886450"/>
            <a:ext cx="6334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Alternative route: 500 m</a:t>
            </a:r>
          </a:p>
        </p:txBody>
      </p:sp>
      <p:sp>
        <p:nvSpPr>
          <p:cNvPr id="18" name="">
            <a:extLst xmlns:a="http://schemas.openxmlformats.org/drawingml/2006/main">
              <a:ext uri="{FF2B5EF4-FFF2-40B4-BE49-F238E27FC236}">
                <a16:creationId xmlns:a16="http://schemas.microsoft.com/office/drawing/2014/main" id="{0867CD68-9586-439D-88DB-96B1F38B5C28}"/>
              </a:ext>
            </a:extLst>
          </p:cNvPr>
          <p:cNvSpPr>
            <a:spLocks xmlns:a="http://schemas.openxmlformats.org/drawingml/2006/main" noGrp="1"/>
          </p:cNvSpPr>
          <p:nvPr/>
        </p:nvSpPr>
        <p:spPr>
          <a:xfrm xmlns:a="http://schemas.openxmlformats.org/drawingml/2006/main">
            <a:off x="7829550" y="1543050"/>
            <a:ext cx="357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1D9CD"/>
                </a:solidFill>
                <a:latin typeface="Aptos"/>
                <a:ea typeface="Aptos"/>
                <a:cs typeface="Aptos"/>
              </a:defRPr>
            </a:pPr>
            <a:r>
              <a:rPr sz="2175" b="1">
                <a:solidFill>
                  <a:srgbClr val="41D9CD"/>
                </a:solidFill>
                <a:latin typeface="Aptos"/>
                <a:ea typeface="Aptos"/>
                <a:cs typeface="Aptos"/>
              </a:rPr>
              <a:t>1  Build a graph</a:t>
            </a:r>
          </a:p>
        </p:txBody>
      </p:sp>
      <p:sp>
        <p:nvSpPr>
          <p:cNvPr id="19" name="">
            <a:extLst xmlns:a="http://schemas.openxmlformats.org/drawingml/2006/main">
              <a:ext uri="{FF2B5EF4-FFF2-40B4-BE49-F238E27FC236}">
                <a16:creationId xmlns:a16="http://schemas.microsoft.com/office/drawing/2014/main" id="{2722732B-9C2D-4344-9783-E88EF5E26DD8}"/>
              </a:ext>
            </a:extLst>
          </p:cNvPr>
          <p:cNvSpPr>
            <a:spLocks xmlns:a="http://schemas.openxmlformats.org/drawingml/2006/main" noGrp="1"/>
          </p:cNvSpPr>
          <p:nvPr/>
        </p:nvSpPr>
        <p:spPr>
          <a:xfrm xmlns:a="http://schemas.openxmlformats.org/drawingml/2006/main">
            <a:off x="7829550" y="1990725"/>
            <a:ext cx="357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Places are nodes. Walkways are edges with distance or time costs.</a:t>
            </a:r>
          </a:p>
        </p:txBody>
      </p:sp>
      <p:sp>
        <p:nvSpPr>
          <p:cNvPr id="20" name="">
            <a:extLst xmlns:a="http://schemas.openxmlformats.org/drawingml/2006/main">
              <a:ext uri="{FF2B5EF4-FFF2-40B4-BE49-F238E27FC236}">
                <a16:creationId xmlns:a16="http://schemas.microsoft.com/office/drawing/2014/main" id="{BD63F0A4-4135-4009-A62F-CC51CDD3E6CF}"/>
              </a:ext>
            </a:extLst>
          </p:cNvPr>
          <p:cNvSpPr>
            <a:spLocks xmlns:a="http://schemas.openxmlformats.org/drawingml/2006/main" noGrp="1"/>
          </p:cNvSpPr>
          <p:nvPr/>
        </p:nvSpPr>
        <p:spPr>
          <a:xfrm xmlns:a="http://schemas.openxmlformats.org/drawingml/2006/main">
            <a:off x="7829550" y="3162300"/>
            <a:ext cx="357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1D9CD"/>
                </a:solidFill>
                <a:latin typeface="Aptos"/>
                <a:ea typeface="Aptos"/>
                <a:cs typeface="Aptos"/>
              </a:defRPr>
            </a:pPr>
            <a:r>
              <a:rPr sz="2175" b="1">
                <a:solidFill>
                  <a:srgbClr val="41D9CD"/>
                </a:solidFill>
                <a:latin typeface="Aptos"/>
                <a:ea typeface="Aptos"/>
                <a:cs typeface="Aptos"/>
              </a:rPr>
              <a:t>2  Apply rules</a:t>
            </a:r>
          </a:p>
        </p:txBody>
      </p:sp>
      <p:sp>
        <p:nvSpPr>
          <p:cNvPr id="21" name="">
            <a:extLst xmlns:a="http://schemas.openxmlformats.org/drawingml/2006/main">
              <a:ext uri="{FF2B5EF4-FFF2-40B4-BE49-F238E27FC236}">
                <a16:creationId xmlns:a16="http://schemas.microsoft.com/office/drawing/2014/main" id="{7BC74274-07D1-4273-A6AD-B73480A4EA9F}"/>
              </a:ext>
            </a:extLst>
          </p:cNvPr>
          <p:cNvSpPr>
            <a:spLocks xmlns:a="http://schemas.openxmlformats.org/drawingml/2006/main" noGrp="1"/>
          </p:cNvSpPr>
          <p:nvPr/>
        </p:nvSpPr>
        <p:spPr>
          <a:xfrm xmlns:a="http://schemas.openxmlformats.org/drawingml/2006/main">
            <a:off x="7829550" y="3609975"/>
            <a:ext cx="357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Remove closed paths and stairs when step-free access is selected.</a:t>
            </a:r>
          </a:p>
        </p:txBody>
      </p:sp>
      <p:sp>
        <p:nvSpPr>
          <p:cNvPr id="22" name="">
            <a:extLst xmlns:a="http://schemas.openxmlformats.org/drawingml/2006/main">
              <a:ext uri="{FF2B5EF4-FFF2-40B4-BE49-F238E27FC236}">
                <a16:creationId xmlns:a16="http://schemas.microsoft.com/office/drawing/2014/main" id="{0154EB07-6622-4508-AB63-80079361B0C3}"/>
              </a:ext>
            </a:extLst>
          </p:cNvPr>
          <p:cNvSpPr>
            <a:spLocks xmlns:a="http://schemas.openxmlformats.org/drawingml/2006/main" noGrp="1"/>
          </p:cNvSpPr>
          <p:nvPr/>
        </p:nvSpPr>
        <p:spPr>
          <a:xfrm xmlns:a="http://schemas.openxmlformats.org/drawingml/2006/main">
            <a:off x="7829550" y="4781550"/>
            <a:ext cx="357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41D9CD"/>
                </a:solidFill>
                <a:latin typeface="Aptos"/>
                <a:ea typeface="Aptos"/>
                <a:cs typeface="Aptos"/>
              </a:defRPr>
            </a:pPr>
            <a:r>
              <a:rPr sz="2175" b="1">
                <a:solidFill>
                  <a:srgbClr val="41D9CD"/>
                </a:solidFill>
                <a:latin typeface="Aptos"/>
                <a:ea typeface="Aptos"/>
                <a:cs typeface="Aptos"/>
              </a:rPr>
              <a:t>3  Search with A*</a:t>
            </a:r>
          </a:p>
        </p:txBody>
      </p:sp>
      <p:sp>
        <p:nvSpPr>
          <p:cNvPr id="23" name="">
            <a:extLst xmlns:a="http://schemas.openxmlformats.org/drawingml/2006/main">
              <a:ext uri="{FF2B5EF4-FFF2-40B4-BE49-F238E27FC236}">
                <a16:creationId xmlns:a16="http://schemas.microsoft.com/office/drawing/2014/main" id="{2A20476E-AAD3-44CE-9672-439605BB9ED3}"/>
              </a:ext>
            </a:extLst>
          </p:cNvPr>
          <p:cNvSpPr>
            <a:spLocks xmlns:a="http://schemas.openxmlformats.org/drawingml/2006/main" noGrp="1"/>
          </p:cNvSpPr>
          <p:nvPr/>
        </p:nvSpPr>
        <p:spPr>
          <a:xfrm xmlns:a="http://schemas.openxmlformats.org/drawingml/2006/main">
            <a:off x="7829550" y="5229225"/>
            <a:ext cx="357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BDD0DC"/>
                </a:solidFill>
                <a:latin typeface="Aptos"/>
                <a:ea typeface="Aptos"/>
                <a:cs typeface="Aptos"/>
              </a:defRPr>
            </a:pPr>
            <a:r>
              <a:rPr sz="1875" b="0">
                <a:solidFill>
                  <a:srgbClr val="BDD0DC"/>
                </a:solidFill>
                <a:latin typeface="Aptos"/>
                <a:ea typeface="Aptos"/>
                <a:cs typeface="Aptos"/>
              </a:rPr>
              <a:t>Choose the lowest-cost allowed path and return its directions.</a:t>
            </a:r>
          </a:p>
        </p:txBody>
      </p:sp>
    </p:spTree>
    <p:extLst>
      <p:ext uri="{BB962C8B-B14F-4D97-AF65-F5344CB8AC3E}">
        <p14:creationId xmlns:p14="http://schemas.microsoft.com/office/powerpoint/2010/main" val="430769483"/>
      </p:ext>
    </p:extLst>
  </p:cSld>
</p:sld>
</file>

<file path=ppt/slides/slide6.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7861EFF-0D4A-4942-9C4C-0F08CCC2DFF8}"/>
              </a:ext>
            </a:extLst>
          </p:cNvPr>
          <p:cNvSpPr>
            <a:spLocks xmlns:a="http://schemas.openxmlformats.org/drawingml/2006/main" noGrp="1"/>
          </p:cNvSpPr>
          <p:nvPr/>
        </p:nvSpPr>
        <p:spPr>
          <a:xfrm xmlns:a="http://schemas.openxmlformats.org/drawingml/2006/main">
            <a:off x="609600" y="4572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7FAFD"/>
                </a:solidFill>
                <a:latin typeface="Aptos"/>
                <a:ea typeface="Aptos"/>
                <a:cs typeface="Aptos"/>
              </a:defRPr>
            </a:pPr>
            <a:r>
              <a:rPr sz="3300" b="1">
                <a:solidFill>
                  <a:srgbClr val="F7FAFD"/>
                </a:solidFill>
                <a:latin typeface="Aptos"/>
                <a:ea typeface="Aptos"/>
                <a:cs typeface="Aptos"/>
              </a:rPr>
              <a:t>Implementation plan and system design</a:t>
            </a:r>
          </a:p>
        </p:txBody>
      </p:sp>
      <p:sp>
        <p:nvSpPr>
          <p:cNvPr id="2" name="">
            <a:extLst xmlns:a="http://schemas.openxmlformats.org/drawingml/2006/main">
              <a:ext uri="{FF2B5EF4-FFF2-40B4-BE49-F238E27FC236}">
                <a16:creationId xmlns:a16="http://schemas.microsoft.com/office/drawing/2014/main" id="{63540D77-1C68-44D5-A484-D015164B5555}"/>
              </a:ext>
            </a:extLst>
          </p:cNvPr>
          <p:cNvSpPr>
            <a:spLocks xmlns:a="http://schemas.openxmlformats.org/drawingml/2006/main" noGrp="1"/>
          </p:cNvSpPr>
          <p:nvPr/>
        </p:nvSpPr>
        <p:spPr>
          <a:xfrm xmlns:a="http://schemas.openxmlformats.org/drawingml/2006/main">
            <a:off x="11163300" y="62484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DD0DC"/>
                </a:solidFill>
                <a:latin typeface="Aptos"/>
                <a:ea typeface="Aptos"/>
                <a:cs typeface="Aptos"/>
              </a:defRPr>
            </a:pPr>
            <a:r>
              <a:rPr sz="1350" b="0">
                <a:solidFill>
                  <a:srgbClr val="BDD0DC"/>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352EC691-ECD6-4B18-A337-A07345F92543}"/>
              </a:ext>
            </a:extLst>
          </p:cNvPr>
          <p:cNvSpPr>
            <a:spLocks xmlns:a="http://schemas.openxmlformats.org/drawingml/2006/main" noGrp="1"/>
          </p:cNvSpPr>
          <p:nvPr/>
        </p:nvSpPr>
        <p:spPr>
          <a:xfrm xmlns:a="http://schemas.openxmlformats.org/drawingml/2006/main">
            <a:off x="609600" y="1504950"/>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41D9CD"/>
                </a:solidFill>
                <a:latin typeface="Aptos"/>
                <a:ea typeface="Aptos"/>
                <a:cs typeface="Aptos"/>
              </a:defRPr>
            </a:pPr>
            <a:r>
              <a:rPr sz="3525" b="1">
                <a:solidFill>
                  <a:srgbClr val="41D9CD"/>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C71C4B4F-4A94-4B4C-A80D-16D40AA8BCA2}"/>
              </a:ext>
            </a:extLst>
          </p:cNvPr>
          <p:cNvSpPr>
            <a:spLocks xmlns:a="http://schemas.openxmlformats.org/drawingml/2006/main" noGrp="1"/>
          </p:cNvSpPr>
          <p:nvPr/>
        </p:nvSpPr>
        <p:spPr>
          <a:xfrm xmlns:a="http://schemas.openxmlformats.org/drawingml/2006/main">
            <a:off x="1476375" y="15240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7FAFD"/>
                </a:solidFill>
                <a:latin typeface="Aptos"/>
                <a:ea typeface="Aptos"/>
                <a:cs typeface="Aptos"/>
              </a:defRPr>
            </a:pPr>
            <a:r>
              <a:rPr sz="2325" b="1">
                <a:solidFill>
                  <a:srgbClr val="F7FAFD"/>
                </a:solidFill>
                <a:latin typeface="Aptos"/>
                <a:ea typeface="Aptos"/>
                <a:cs typeface="Aptos"/>
              </a:rPr>
              <a:t>Map the campus</a:t>
            </a:r>
          </a:p>
        </p:txBody>
      </p:sp>
      <p:sp>
        <p:nvSpPr>
          <p:cNvPr id="5" name="">
            <a:extLst xmlns:a="http://schemas.openxmlformats.org/drawingml/2006/main">
              <a:ext uri="{FF2B5EF4-FFF2-40B4-BE49-F238E27FC236}">
                <a16:creationId xmlns:a16="http://schemas.microsoft.com/office/drawing/2014/main" id="{63959581-C1D9-4690-8230-EACC8AED234E}"/>
              </a:ext>
            </a:extLst>
          </p:cNvPr>
          <p:cNvSpPr>
            <a:spLocks xmlns:a="http://schemas.openxmlformats.org/drawingml/2006/main" noGrp="1"/>
          </p:cNvSpPr>
          <p:nvPr/>
        </p:nvSpPr>
        <p:spPr>
          <a:xfrm xmlns:a="http://schemas.openxmlformats.org/drawingml/2006/main">
            <a:off x="1476375" y="2133600"/>
            <a:ext cx="4410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Survey buildings, rooms and walkways.</a:t>
            </a:r>
          </a:p>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Record distances, floors and access rules.</a:t>
            </a:r>
          </a:p>
        </p:txBody>
      </p:sp>
      <p:sp>
        <p:nvSpPr>
          <p:cNvPr id="6" name="">
            <a:extLst xmlns:a="http://schemas.openxmlformats.org/drawingml/2006/main">
              <a:ext uri="{FF2B5EF4-FFF2-40B4-BE49-F238E27FC236}">
                <a16:creationId xmlns:a16="http://schemas.microsoft.com/office/drawing/2014/main" id="{40DA3907-95CF-40DA-B549-F960B938C81E}"/>
              </a:ext>
            </a:extLst>
          </p:cNvPr>
          <p:cNvSpPr>
            <a:spLocks xmlns:a="http://schemas.openxmlformats.org/drawingml/2006/main" noGrp="1"/>
          </p:cNvSpPr>
          <p:nvPr/>
        </p:nvSpPr>
        <p:spPr>
          <a:xfrm xmlns:a="http://schemas.openxmlformats.org/drawingml/2006/main">
            <a:off x="6419850" y="1504950"/>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41D9CD"/>
                </a:solidFill>
                <a:latin typeface="Aptos"/>
                <a:ea typeface="Aptos"/>
                <a:cs typeface="Aptos"/>
              </a:defRPr>
            </a:pPr>
            <a:r>
              <a:rPr sz="3525" b="1">
                <a:solidFill>
                  <a:srgbClr val="41D9CD"/>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A8E6A949-8DA7-4538-8491-4E0494C17210}"/>
              </a:ext>
            </a:extLst>
          </p:cNvPr>
          <p:cNvSpPr>
            <a:spLocks xmlns:a="http://schemas.openxmlformats.org/drawingml/2006/main" noGrp="1"/>
          </p:cNvSpPr>
          <p:nvPr/>
        </p:nvSpPr>
        <p:spPr>
          <a:xfrm xmlns:a="http://schemas.openxmlformats.org/drawingml/2006/main">
            <a:off x="7286625" y="15240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7FAFD"/>
                </a:solidFill>
                <a:latin typeface="Aptos"/>
                <a:ea typeface="Aptos"/>
                <a:cs typeface="Aptos"/>
              </a:defRPr>
            </a:pPr>
            <a:r>
              <a:rPr sz="2325" b="1">
                <a:solidFill>
                  <a:srgbClr val="F7FAFD"/>
                </a:solidFill>
                <a:latin typeface="Aptos"/>
                <a:ea typeface="Aptos"/>
                <a:cs typeface="Aptos"/>
              </a:rPr>
              <a:t>Build the backend</a:t>
            </a:r>
          </a:p>
        </p:txBody>
      </p:sp>
      <p:sp>
        <p:nvSpPr>
          <p:cNvPr id="8" name="">
            <a:extLst xmlns:a="http://schemas.openxmlformats.org/drawingml/2006/main">
              <a:ext uri="{FF2B5EF4-FFF2-40B4-BE49-F238E27FC236}">
                <a16:creationId xmlns:a16="http://schemas.microsoft.com/office/drawing/2014/main" id="{A266A5F6-55EC-4246-BD9A-2B0219F6D97C}"/>
              </a:ext>
            </a:extLst>
          </p:cNvPr>
          <p:cNvSpPr>
            <a:spLocks xmlns:a="http://schemas.openxmlformats.org/drawingml/2006/main" noGrp="1"/>
          </p:cNvSpPr>
          <p:nvPr/>
        </p:nvSpPr>
        <p:spPr>
          <a:xfrm xmlns:a="http://schemas.openxmlformats.org/drawingml/2006/main">
            <a:off x="7286625" y="2133600"/>
            <a:ext cx="4410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Store the directory and route graph.</a:t>
            </a:r>
          </a:p>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Connect AI search and A* through an API.</a:t>
            </a:r>
          </a:p>
        </p:txBody>
      </p:sp>
      <p:sp>
        <p:nvSpPr>
          <p:cNvPr id="9" name="">
            <a:extLst xmlns:a="http://schemas.openxmlformats.org/drawingml/2006/main">
              <a:ext uri="{FF2B5EF4-FFF2-40B4-BE49-F238E27FC236}">
                <a16:creationId xmlns:a16="http://schemas.microsoft.com/office/drawing/2014/main" id="{8F12BC94-9B63-410F-9EE4-2C130082BAF3}"/>
              </a:ext>
            </a:extLst>
          </p:cNvPr>
          <p:cNvSpPr>
            <a:spLocks xmlns:a="http://schemas.openxmlformats.org/drawingml/2006/main" noGrp="1"/>
          </p:cNvSpPr>
          <p:nvPr/>
        </p:nvSpPr>
        <p:spPr>
          <a:xfrm xmlns:a="http://schemas.openxmlformats.org/drawingml/2006/main">
            <a:off x="609600" y="320992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41D9CD"/>
                </a:solidFill>
                <a:latin typeface="Aptos"/>
                <a:ea typeface="Aptos"/>
                <a:cs typeface="Aptos"/>
              </a:defRPr>
            </a:pPr>
            <a:r>
              <a:rPr sz="3525" b="1">
                <a:solidFill>
                  <a:srgbClr val="41D9CD"/>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31AF1FDD-8C40-4B12-999B-15BCA3D537D3}"/>
              </a:ext>
            </a:extLst>
          </p:cNvPr>
          <p:cNvSpPr>
            <a:spLocks xmlns:a="http://schemas.openxmlformats.org/drawingml/2006/main" noGrp="1"/>
          </p:cNvSpPr>
          <p:nvPr/>
        </p:nvSpPr>
        <p:spPr>
          <a:xfrm xmlns:a="http://schemas.openxmlformats.org/drawingml/2006/main">
            <a:off x="1476375" y="32289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7FAFD"/>
                </a:solidFill>
                <a:latin typeface="Aptos"/>
                <a:ea typeface="Aptos"/>
                <a:cs typeface="Aptos"/>
              </a:defRPr>
            </a:pPr>
            <a:r>
              <a:rPr sz="2325" b="1">
                <a:solidFill>
                  <a:srgbClr val="F7FAFD"/>
                </a:solidFill>
                <a:latin typeface="Aptos"/>
                <a:ea typeface="Aptos"/>
                <a:cs typeface="Aptos"/>
              </a:rPr>
              <a:t>Develop the app</a:t>
            </a:r>
          </a:p>
        </p:txBody>
      </p:sp>
      <p:sp>
        <p:nvSpPr>
          <p:cNvPr id="11" name="">
            <a:extLst xmlns:a="http://schemas.openxmlformats.org/drawingml/2006/main">
              <a:ext uri="{FF2B5EF4-FFF2-40B4-BE49-F238E27FC236}">
                <a16:creationId xmlns:a16="http://schemas.microsoft.com/office/drawing/2014/main" id="{94E5669C-123E-4498-B345-137099789F15}"/>
              </a:ext>
            </a:extLst>
          </p:cNvPr>
          <p:cNvSpPr>
            <a:spLocks xmlns:a="http://schemas.openxmlformats.org/drawingml/2006/main" noGrp="1"/>
          </p:cNvSpPr>
          <p:nvPr/>
        </p:nvSpPr>
        <p:spPr>
          <a:xfrm xmlns:a="http://schemas.openxmlformats.org/drawingml/2006/main">
            <a:off x="1476375" y="3838575"/>
            <a:ext cx="4410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Add the map, search and GPS permission.</a:t>
            </a:r>
          </a:p>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Show directions and indoor QR checkpoints.</a:t>
            </a:r>
          </a:p>
        </p:txBody>
      </p:sp>
      <p:sp>
        <p:nvSpPr>
          <p:cNvPr id="12" name="">
            <a:extLst xmlns:a="http://schemas.openxmlformats.org/drawingml/2006/main">
              <a:ext uri="{FF2B5EF4-FFF2-40B4-BE49-F238E27FC236}">
                <a16:creationId xmlns:a16="http://schemas.microsoft.com/office/drawing/2014/main" id="{08B98ABC-0750-45B7-988F-E90ABB1BD635}"/>
              </a:ext>
            </a:extLst>
          </p:cNvPr>
          <p:cNvSpPr>
            <a:spLocks xmlns:a="http://schemas.openxmlformats.org/drawingml/2006/main" noGrp="1"/>
          </p:cNvSpPr>
          <p:nvPr/>
        </p:nvSpPr>
        <p:spPr>
          <a:xfrm xmlns:a="http://schemas.openxmlformats.org/drawingml/2006/main">
            <a:off x="6419850" y="3209925"/>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41D9CD"/>
                </a:solidFill>
                <a:latin typeface="Aptos"/>
                <a:ea typeface="Aptos"/>
                <a:cs typeface="Aptos"/>
              </a:defRPr>
            </a:pPr>
            <a:r>
              <a:rPr sz="3525" b="1">
                <a:solidFill>
                  <a:srgbClr val="41D9CD"/>
                </a:solidFill>
                <a:latin typeface="Aptos"/>
                <a:ea typeface="Aptos"/>
                <a:cs typeface="Aptos"/>
              </a:rPr>
              <a:t>04</a:t>
            </a:r>
          </a:p>
        </p:txBody>
      </p:sp>
      <p:sp>
        <p:nvSpPr>
          <p:cNvPr id="13" name="">
            <a:extLst xmlns:a="http://schemas.openxmlformats.org/drawingml/2006/main">
              <a:ext uri="{FF2B5EF4-FFF2-40B4-BE49-F238E27FC236}">
                <a16:creationId xmlns:a16="http://schemas.microsoft.com/office/drawing/2014/main" id="{DED77834-7566-42C2-85DB-ACC4C8E4042E}"/>
              </a:ext>
            </a:extLst>
          </p:cNvPr>
          <p:cNvSpPr>
            <a:spLocks xmlns:a="http://schemas.openxmlformats.org/drawingml/2006/main" noGrp="1"/>
          </p:cNvSpPr>
          <p:nvPr/>
        </p:nvSpPr>
        <p:spPr>
          <a:xfrm xmlns:a="http://schemas.openxmlformats.org/drawingml/2006/main">
            <a:off x="7286625" y="32289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7FAFD"/>
                </a:solidFill>
                <a:latin typeface="Aptos"/>
                <a:ea typeface="Aptos"/>
                <a:cs typeface="Aptos"/>
              </a:defRPr>
            </a:pPr>
            <a:r>
              <a:rPr sz="2325" b="1">
                <a:solidFill>
                  <a:srgbClr val="F7FAFD"/>
                </a:solidFill>
                <a:latin typeface="Aptos"/>
                <a:ea typeface="Aptos"/>
                <a:cs typeface="Aptos"/>
              </a:rPr>
              <a:t>Test and improve</a:t>
            </a:r>
          </a:p>
        </p:txBody>
      </p:sp>
      <p:sp>
        <p:nvSpPr>
          <p:cNvPr id="14" name="">
            <a:extLst xmlns:a="http://schemas.openxmlformats.org/drawingml/2006/main">
              <a:ext uri="{FF2B5EF4-FFF2-40B4-BE49-F238E27FC236}">
                <a16:creationId xmlns:a16="http://schemas.microsoft.com/office/drawing/2014/main" id="{7E99E94D-542F-4FA3-ABAB-871C44102F71}"/>
              </a:ext>
            </a:extLst>
          </p:cNvPr>
          <p:cNvSpPr>
            <a:spLocks xmlns:a="http://schemas.openxmlformats.org/drawingml/2006/main" noGrp="1"/>
          </p:cNvSpPr>
          <p:nvPr/>
        </p:nvSpPr>
        <p:spPr>
          <a:xfrm xmlns:a="http://schemas.openxmlformats.org/drawingml/2006/main">
            <a:off x="7286625" y="3838575"/>
            <a:ext cx="4410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Walk real routes and verify destinations.</a:t>
            </a:r>
          </a:p>
          <a:p xmlns:a="http://schemas.openxmlformats.org/drawingml/2006/main">
            <a:pPr algn="l">
              <a:defRPr sz="1800" b="0">
                <a:solidFill>
                  <a:srgbClr val="BDD0DC"/>
                </a:solidFill>
                <a:latin typeface="Aptos"/>
                <a:ea typeface="Aptos"/>
                <a:cs typeface="Aptos"/>
              </a:defRPr>
            </a:pPr>
            <a:r>
              <a:rPr sz="1800" b="0">
                <a:solidFill>
                  <a:srgbClr val="BDD0DC"/>
                </a:solidFill>
                <a:latin typeface="Aptos"/>
                <a:ea typeface="Aptos"/>
                <a:cs typeface="Aptos"/>
              </a:rPr>
              <a:t>Test closures, poor GPS and step-free access.</a:t>
            </a:r>
          </a:p>
        </p:txBody>
      </p:sp>
      <p:sp>
        <p:nvSpPr>
          <p:cNvPr id="15" name="">
            <a:extLst xmlns:a="http://schemas.openxmlformats.org/drawingml/2006/main">
              <a:ext uri="{FF2B5EF4-FFF2-40B4-BE49-F238E27FC236}">
                <a16:creationId xmlns:a16="http://schemas.microsoft.com/office/drawing/2014/main" id="{57FC4577-CD91-4B2E-9736-CDD9665E81E1}"/>
              </a:ext>
            </a:extLst>
          </p:cNvPr>
          <p:cNvSpPr>
            <a:spLocks xmlns:a="http://schemas.openxmlformats.org/drawingml/2006/main" noGrp="1"/>
          </p:cNvSpPr>
          <p:nvPr/>
        </p:nvSpPr>
        <p:spPr>
          <a:xfrm xmlns:a="http://schemas.openxmlformats.org/drawingml/2006/main">
            <a:off x="609600" y="5305425"/>
            <a:ext cx="2247900" cy="714375"/>
          </a:xfrm>
          <a:prstGeom xmlns:a="http://schemas.openxmlformats.org/drawingml/2006/main" prst="roundRect">
            <a:avLst>
              <a:gd name="adj" fmla="val 16000"/>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Flutter app</a:t>
            </a:r>
          </a:p>
        </p:txBody>
      </p:sp>
      <p:sp>
        <p:nvSpPr>
          <p:cNvPr id="16" name="">
            <a:extLst xmlns:a="http://schemas.openxmlformats.org/drawingml/2006/main">
              <a:ext uri="{FF2B5EF4-FFF2-40B4-BE49-F238E27FC236}">
                <a16:creationId xmlns:a16="http://schemas.microsoft.com/office/drawing/2014/main" id="{5DE01EA8-6D70-47A9-A91B-37479E3E04E9}"/>
              </a:ext>
            </a:extLst>
          </p:cNvPr>
          <p:cNvSpPr>
            <a:spLocks xmlns:a="http://schemas.openxmlformats.org/drawingml/2006/main" noGrp="1"/>
          </p:cNvSpPr>
          <p:nvPr/>
        </p:nvSpPr>
        <p:spPr>
          <a:xfrm xmlns:a="http://schemas.openxmlformats.org/drawingml/2006/main">
            <a:off x="3781425" y="5305425"/>
            <a:ext cx="2247900" cy="714375"/>
          </a:xfrm>
          <a:prstGeom xmlns:a="http://schemas.openxmlformats.org/drawingml/2006/main" prst="roundRect">
            <a:avLst>
              <a:gd name="adj" fmla="val 16000"/>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Python API</a:t>
            </a:r>
          </a:p>
        </p:txBody>
      </p:sp>
      <p:sp>
        <p:nvSpPr>
          <p:cNvPr id="17" name="">
            <a:extLst xmlns:a="http://schemas.openxmlformats.org/drawingml/2006/main">
              <a:ext uri="{FF2B5EF4-FFF2-40B4-BE49-F238E27FC236}">
                <a16:creationId xmlns:a16="http://schemas.microsoft.com/office/drawing/2014/main" id="{292097DC-E72B-485B-BABF-264C1C1F7CEC}"/>
              </a:ext>
            </a:extLst>
          </p:cNvPr>
          <p:cNvSpPr>
            <a:spLocks xmlns:a="http://schemas.openxmlformats.org/drawingml/2006/main" noGrp="1"/>
          </p:cNvSpPr>
          <p:nvPr/>
        </p:nvSpPr>
        <p:spPr>
          <a:xfrm xmlns:a="http://schemas.openxmlformats.org/drawingml/2006/main">
            <a:off x="7553325" y="4933950"/>
            <a:ext cx="3857625" cy="590550"/>
          </a:xfrm>
          <a:prstGeom xmlns:a="http://schemas.openxmlformats.org/drawingml/2006/main" prst="roundRect">
            <a:avLst>
              <a:gd name="adj" fmla="val 19355"/>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AI service</a:t>
            </a:r>
          </a:p>
        </p:txBody>
      </p:sp>
      <p:sp>
        <p:nvSpPr>
          <p:cNvPr id="18" name="">
            <a:extLst xmlns:a="http://schemas.openxmlformats.org/drawingml/2006/main">
              <a:ext uri="{FF2B5EF4-FFF2-40B4-BE49-F238E27FC236}">
                <a16:creationId xmlns:a16="http://schemas.microsoft.com/office/drawing/2014/main" id="{9AF06818-B559-4DCE-8422-90A84EF48387}"/>
              </a:ext>
            </a:extLst>
          </p:cNvPr>
          <p:cNvSpPr>
            <a:spLocks xmlns:a="http://schemas.openxmlformats.org/drawingml/2006/main" noGrp="1"/>
          </p:cNvSpPr>
          <p:nvPr/>
        </p:nvSpPr>
        <p:spPr>
          <a:xfrm xmlns:a="http://schemas.openxmlformats.org/drawingml/2006/main">
            <a:off x="7553325" y="5753100"/>
            <a:ext cx="3857625" cy="590550"/>
          </a:xfrm>
          <a:prstGeom xmlns:a="http://schemas.openxmlformats.org/drawingml/2006/main" prst="roundRect">
            <a:avLst>
              <a:gd name="adj" fmla="val 19355"/>
            </a:avLst>
          </a:prstGeom>
          <a:solidFill xmlns:a="http://schemas.openxmlformats.org/drawingml/2006/main">
            <a:srgbClr val="11334A"/>
          </a:solidFill>
          <a:ln xmlns:a="http://schemas.openxmlformats.org/drawingml/2006/main" w="19050">
            <a:solidFill>
              <a:srgbClr val="41D9CD"/>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875" b="1">
                <a:solidFill>
                  <a:srgbClr val="F7FAFD"/>
                </a:solidFill>
                <a:latin typeface="Aptos"/>
                <a:ea typeface="Aptos"/>
                <a:cs typeface="Aptos"/>
              </a:defRPr>
            </a:pPr>
            <a:r>
              <a:rPr sz="1875" b="1">
                <a:solidFill>
                  <a:srgbClr val="F7FAFD"/>
                </a:solidFill>
                <a:latin typeface="Aptos"/>
                <a:ea typeface="Aptos"/>
                <a:cs typeface="Aptos"/>
              </a:rPr>
              <a:t>Campus database + graph</a:t>
            </a:r>
          </a:p>
        </p:txBody>
      </p:sp>
      <p:cxnSp>
        <p:nvCxnSpPr>
          <p:cNvPr id="42" name=""/>
          <p:cNvCxnSpPr>
            <a:stCxn xmlns:a="http://schemas.openxmlformats.org/drawingml/2006/main" id="15" idx="3"/>
            <a:endCxn xmlns:a="http://schemas.openxmlformats.org/drawingml/2006/main" id="16" idx="1"/>
          </p:cNvCxnSpPr>
          <p:nvPr/>
        </p:nvCxnSpPr>
        <p:spPr>
          <a:xfrm xmlns:a="http://schemas.openxmlformats.org/drawingml/2006/main">
            <a:off x="2857500" y="5662613"/>
            <a:ext cx="923925" cy="0"/>
          </a:xfrm>
          <a:prstGeom xmlns:a="http://schemas.openxmlformats.org/drawingml/2006/main" prst="straightConnector1">
            <a:avLst/>
          </a:prstGeom>
          <a:ln xmlns:a="http://schemas.openxmlformats.org/drawingml/2006/main" w="28575">
            <a:solidFill>
              <a:srgbClr val="41D9CD"/>
            </a:solidFill>
            <a:tailEnd type="triangle" w="med" len="med"/>
          </a:ln>
        </p:spPr>
      </p:cxnSp>
      <p:cxnSp>
        <p:nvCxnSpPr>
          <p:cNvPr id="43" name=""/>
          <p:cNvCxnSpPr>
            <a:stCxn xmlns:a="http://schemas.openxmlformats.org/drawingml/2006/main" id="16" idx="3"/>
            <a:endCxn xmlns:a="http://schemas.openxmlformats.org/drawingml/2006/main" id="17" idx="1"/>
          </p:cNvCxnSpPr>
          <p:nvPr/>
        </p:nvCxnSpPr>
        <p:spPr>
          <a:xfrm xmlns:a="http://schemas.openxmlformats.org/drawingml/2006/main" flipV="1">
            <a:off x="6029325" y="5229225"/>
            <a:ext cx="1524000" cy="433388"/>
          </a:xfrm>
          <a:prstGeom xmlns:a="http://schemas.openxmlformats.org/drawingml/2006/main" prst="bentConnector3">
            <a:avLst>
              <a:gd name="adj1" fmla="val 50000"/>
            </a:avLst>
          </a:prstGeom>
          <a:ln xmlns:a="http://schemas.openxmlformats.org/drawingml/2006/main" w="28575">
            <a:solidFill>
              <a:srgbClr val="41D9CD"/>
            </a:solidFill>
            <a:tailEnd type="triangle" w="med" len="med"/>
          </a:ln>
        </p:spPr>
      </p:cxnSp>
      <p:cxnSp>
        <p:nvCxnSpPr>
          <p:cNvPr id="44" name=""/>
          <p:cNvCxnSpPr>
            <a:stCxn xmlns:a="http://schemas.openxmlformats.org/drawingml/2006/main" id="16" idx="3"/>
            <a:endCxn xmlns:a="http://schemas.openxmlformats.org/drawingml/2006/main" id="18" idx="1"/>
          </p:cNvCxnSpPr>
          <p:nvPr/>
        </p:nvCxnSpPr>
        <p:spPr>
          <a:xfrm xmlns:a="http://schemas.openxmlformats.org/drawingml/2006/main">
            <a:off x="6029325" y="5662613"/>
            <a:ext cx="1524000" cy="385763"/>
          </a:xfrm>
          <a:prstGeom xmlns:a="http://schemas.openxmlformats.org/drawingml/2006/main" prst="bentConnector3">
            <a:avLst>
              <a:gd name="adj1" fmla="val 50000"/>
            </a:avLst>
          </a:prstGeom>
          <a:ln xmlns:a="http://schemas.openxmlformats.org/drawingml/2006/main" w="28575">
            <a:solidFill>
              <a:srgbClr val="41D9CD"/>
            </a:solidFill>
            <a:tailEnd type="triangle" w="med" len="med"/>
          </a:ln>
        </p:spPr>
      </p:cxnSp>
      <p:sp>
        <p:nvSpPr>
          <p:cNvPr id="22" name="">
            <a:extLst xmlns:a="http://schemas.openxmlformats.org/drawingml/2006/main">
              <a:ext uri="{FF2B5EF4-FFF2-40B4-BE49-F238E27FC236}">
                <a16:creationId xmlns:a16="http://schemas.microsoft.com/office/drawing/2014/main" id="{4E3D4A13-7013-4F84-8237-A921CD4BE75D}"/>
              </a:ext>
            </a:extLst>
          </p:cNvPr>
          <p:cNvSpPr>
            <a:spLocks xmlns:a="http://schemas.openxmlformats.org/drawingml/2006/main" noGrp="1"/>
          </p:cNvSpPr>
          <p:nvPr/>
        </p:nvSpPr>
        <p:spPr>
          <a:xfrm xmlns:a="http://schemas.openxmlformats.org/drawingml/2006/main">
            <a:off x="638175" y="6143625"/>
            <a:ext cx="2238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BDD0DC"/>
                </a:solidFill>
                <a:latin typeface="Aptos"/>
                <a:ea typeface="Aptos"/>
                <a:cs typeface="Aptos"/>
              </a:defRPr>
            </a:pPr>
            <a:r>
              <a:rPr sz="1500" b="0">
                <a:solidFill>
                  <a:srgbClr val="BDD0DC"/>
                </a:solidFill>
                <a:latin typeface="Aptos"/>
                <a:ea typeface="Aptos"/>
                <a:cs typeface="Aptos"/>
              </a:rPr>
              <a:t>User request</a:t>
            </a:r>
          </a:p>
        </p:txBody>
      </p:sp>
      <p:sp>
        <p:nvSpPr>
          <p:cNvPr id="23" name="">
            <a:extLst xmlns:a="http://schemas.openxmlformats.org/drawingml/2006/main">
              <a:ext uri="{FF2B5EF4-FFF2-40B4-BE49-F238E27FC236}">
                <a16:creationId xmlns:a16="http://schemas.microsoft.com/office/drawing/2014/main" id="{4C11E0F6-7994-4DC3-B9C0-B5B7C5DB800E}"/>
              </a:ext>
            </a:extLst>
          </p:cNvPr>
          <p:cNvSpPr>
            <a:spLocks xmlns:a="http://schemas.openxmlformats.org/drawingml/2006/main" noGrp="1"/>
          </p:cNvSpPr>
          <p:nvPr/>
        </p:nvSpPr>
        <p:spPr>
          <a:xfrm xmlns:a="http://schemas.openxmlformats.org/drawingml/2006/main">
            <a:off x="3771900" y="6143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BDD0DC"/>
                </a:solidFill>
                <a:latin typeface="Aptos"/>
                <a:ea typeface="Aptos"/>
                <a:cs typeface="Aptos"/>
              </a:defRPr>
            </a:pPr>
            <a:r>
              <a:rPr sz="1500" b="0">
                <a:solidFill>
                  <a:srgbClr val="BDD0DC"/>
                </a:solidFill>
                <a:latin typeface="Aptos"/>
                <a:ea typeface="Aptos"/>
                <a:cs typeface="Aptos"/>
              </a:rPr>
              <a:t>A* route calculation</a:t>
            </a:r>
          </a:p>
        </p:txBody>
      </p:sp>
    </p:spTree>
    <p:extLst>
      <p:ext uri="{BB962C8B-B14F-4D97-AF65-F5344CB8AC3E}">
        <p14:creationId xmlns:p14="http://schemas.microsoft.com/office/powerpoint/2010/main" val="343189428"/>
      </p:ext>
    </p:extLst>
  </p:cSld>
</p:sld>
</file>

<file path=ppt/slides/slide7.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635EF9-8077-4462-96A4-3CED5A071C29}"/>
              </a:ext>
            </a:extLst>
          </p:cNvPr>
          <p:cNvSpPr>
            <a:spLocks xmlns:a="http://schemas.openxmlformats.org/drawingml/2006/main" noGrp="1"/>
          </p:cNvSpPr>
          <p:nvPr/>
        </p:nvSpPr>
        <p:spPr>
          <a:xfrm xmlns:a="http://schemas.openxmlformats.org/drawingml/2006/main">
            <a:off x="609600" y="17145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6600" b="1">
                <a:solidFill>
                  <a:srgbClr val="F7FAFD"/>
                </a:solidFill>
                <a:latin typeface="Aptos"/>
                <a:ea typeface="Aptos"/>
                <a:cs typeface="Aptos"/>
              </a:defRPr>
            </a:pPr>
            <a:r>
              <a:rPr sz="6600" b="1">
                <a:solidFill>
                  <a:srgbClr val="F7FAFD"/>
                </a:solidFill>
                <a:latin typeface="Aptos"/>
                <a:ea typeface="Aptos"/>
                <a:cs typeface="Aptos"/>
              </a:rPr>
              <a:t>Thank You</a:t>
            </a:r>
          </a:p>
        </p:txBody>
      </p:sp>
      <p:sp>
        <p:nvSpPr>
          <p:cNvPr id="2" name="">
            <a:extLst xmlns:a="http://schemas.openxmlformats.org/drawingml/2006/main">
              <a:ext uri="{FF2B5EF4-FFF2-40B4-BE49-F238E27FC236}">
                <a16:creationId xmlns:a16="http://schemas.microsoft.com/office/drawing/2014/main" id="{C577E1D7-C027-4516-B06B-CBAB73778997}"/>
              </a:ext>
            </a:extLst>
          </p:cNvPr>
          <p:cNvSpPr>
            <a:spLocks xmlns:a="http://schemas.openxmlformats.org/drawingml/2006/main" noGrp="1"/>
          </p:cNvSpPr>
          <p:nvPr/>
        </p:nvSpPr>
        <p:spPr>
          <a:xfrm xmlns:a="http://schemas.openxmlformats.org/drawingml/2006/main">
            <a:off x="609600" y="30861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0">
                <a:solidFill>
                  <a:srgbClr val="41D9CD"/>
                </a:solidFill>
                <a:latin typeface="Aptos"/>
                <a:ea typeface="Aptos"/>
                <a:cs typeface="Aptos"/>
              </a:defRPr>
            </a:pPr>
            <a:r>
              <a:rPr sz="2550" b="0">
                <a:solidFill>
                  <a:srgbClr val="41D9CD"/>
                </a:solidFill>
                <a:latin typeface="Aptos"/>
                <a:ea typeface="Aptos"/>
                <a:cs typeface="Aptos"/>
              </a:rPr>
              <a:t>Questions &amp; Discussion</a:t>
            </a:r>
          </a:p>
        </p:txBody>
      </p:sp>
      <p:sp>
        <p:nvSpPr>
          <p:cNvPr id="3" name="">
            <a:extLst xmlns:a="http://schemas.openxmlformats.org/drawingml/2006/main">
              <a:ext uri="{FF2B5EF4-FFF2-40B4-BE49-F238E27FC236}">
                <a16:creationId xmlns:a16="http://schemas.microsoft.com/office/drawing/2014/main" id="{3A7D1A60-FA6E-4901-BEBB-3A05122DB459}"/>
              </a:ext>
            </a:extLst>
          </p:cNvPr>
          <p:cNvSpPr>
            <a:spLocks xmlns:a="http://schemas.openxmlformats.org/drawingml/2006/main" noGrp="1"/>
          </p:cNvSpPr>
          <p:nvPr/>
        </p:nvSpPr>
        <p:spPr>
          <a:xfrm xmlns:a="http://schemas.openxmlformats.org/drawingml/2006/main">
            <a:off x="609600" y="46767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75" b="1">
                <a:solidFill>
                  <a:srgbClr val="F7FAFD"/>
                </a:solidFill>
                <a:latin typeface="Aptos"/>
                <a:ea typeface="Aptos"/>
                <a:cs typeface="Aptos"/>
              </a:defRPr>
            </a:pPr>
            <a:r>
              <a:rPr sz="2475" b="1">
                <a:solidFill>
                  <a:srgbClr val="F7FAFD"/>
                </a:solidFill>
                <a:latin typeface="Aptos"/>
                <a:ea typeface="Aptos"/>
                <a:cs typeface="Aptos"/>
              </a:rPr>
              <a:t>Alex.d  &amp;  Manikanta Reddy</a:t>
            </a:r>
          </a:p>
        </p:txBody>
      </p:sp>
      <p:sp>
        <p:nvSpPr>
          <p:cNvPr id="4" name="">
            <a:extLst xmlns:a="http://schemas.openxmlformats.org/drawingml/2006/main">
              <a:ext uri="{FF2B5EF4-FFF2-40B4-BE49-F238E27FC236}">
                <a16:creationId xmlns:a16="http://schemas.microsoft.com/office/drawing/2014/main" id="{6AE97C13-2399-49DE-9DC3-1DD6E623E1A2}"/>
              </a:ext>
            </a:extLst>
          </p:cNvPr>
          <p:cNvSpPr>
            <a:spLocks xmlns:a="http://schemas.openxmlformats.org/drawingml/2006/main" noGrp="1"/>
          </p:cNvSpPr>
          <p:nvPr/>
        </p:nvSpPr>
        <p:spPr>
          <a:xfrm xmlns:a="http://schemas.openxmlformats.org/drawingml/2006/main">
            <a:off x="609600" y="5286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0">
                <a:solidFill>
                  <a:srgbClr val="BDD0DC"/>
                </a:solidFill>
                <a:latin typeface="Aptos"/>
                <a:ea typeface="Aptos"/>
                <a:cs typeface="Aptos"/>
              </a:defRPr>
            </a:pPr>
            <a:r>
              <a:rPr sz="1950" b="0">
                <a:solidFill>
                  <a:srgbClr val="BDD0DC"/>
                </a:solidFill>
                <a:latin typeface="Aptos"/>
                <a:ea typeface="Aptos"/>
                <a:cs typeface="Aptos"/>
              </a:rPr>
              <a:t>B.Tech  •  Section Wolves</a:t>
            </a:r>
          </a:p>
        </p:txBody>
      </p:sp>
    </p:spTree>
    <p:extLst>
      <p:ext uri="{BB962C8B-B14F-4D97-AF65-F5344CB8AC3E}">
        <p14:creationId xmlns:p14="http://schemas.microsoft.com/office/powerpoint/2010/main" val="1376484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2026-09-25T04:04:42.5970000Z</dcterms:created>
  <dcterms:modified xsi:type="dcterms:W3CDTF">2026-09-25T04:04:42.5970000Z</dcterms:modified>
</coreProperties>
</file>